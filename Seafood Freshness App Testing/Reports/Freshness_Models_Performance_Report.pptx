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B765AA-0137-4B6A-8D39-577D6BA548BF}">
  <a:tblStyle styleId="{28B765AA-0137-4B6A-8D39-577D6BA548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acf0c44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acf0c44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acf0c4423_0_2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acf0c4423_0_2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acf0c4423_0_2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acf0c4423_0_2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acf0c4423_0_2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acf0c4423_0_2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7acf0c4423_0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7acf0c4423_0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b3009c57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b3009c57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15b0b31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b15b0b31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b3009c5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ab3009c5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cdabae3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cdabae3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92079bcb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92079bcb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ab3009c57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ab3009c57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acd2e30d7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acd2e30d7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aa897323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aa897323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bc2236a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bc2236a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e272566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e272566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a19a73b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a19a73b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e0870fbc1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e0870fbc1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813f2355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813f2355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45cccee4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145cccee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3a8c82c2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3a8c82c2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b15b0b3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1b15b0b3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a4b7b9a7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a4b7b9a7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2ec20e64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2ec20e64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ab3009c573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ab3009c57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118e381f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118e381f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a572ec50cc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a572ec50cc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ab3009c57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ab3009c57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ab3009c57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ab3009c57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ab3009c57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ab3009c57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ab3009c57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ab3009c57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ab3009c57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ab3009c57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a5a1bd48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a5a1bd48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ba8613af6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ba8613af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8f1f60152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8f1f60152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6e2725665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6e2725665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e0870fbc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e0870fb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f118e381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f118e381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813f23559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813f23559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03a8c82c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03a8c82c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1b15b0b3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1b15b0b3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1d07af864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1d07af86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2ec20e649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2ec20e64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ab3009c573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ab3009c57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ab3009c57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ab3009c57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ab3009c573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ab3009c57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acd2e30d7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acd2e30d7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b1c3c81bf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b1c3c81bf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8f1f60152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8f1f60152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6aa897323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6aa897323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8f1f60152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28f1f60152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6fb03006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6fb03006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0ce52b68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0ce52b68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271ee53b3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271ee53b3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680302" y="184305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Freshness Classification Model Performance Report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33075" y="32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2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24100" y="1273875"/>
            <a:ext cx="7613400" cy="27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This report presents an analysis of the performance of fish freshness classification models of </a:t>
            </a:r>
            <a:r>
              <a:rPr b="1" lang="en" sz="2300">
                <a:latin typeface="Times New Roman"/>
                <a:ea typeface="Times New Roman"/>
                <a:cs typeface="Times New Roman"/>
                <a:sym typeface="Times New Roman"/>
              </a:rPr>
              <a:t>Mackerel, Sardine &amp; White prawns </a:t>
            </a: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on different versions: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The analysis is based on confusion matrices provided for each date.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672700" y="232600"/>
            <a:ext cx="376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Confusion Matrix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370625" y="1280575"/>
            <a:ext cx="6736800" cy="3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Values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		  Bad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Bad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222195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729300"/>
                <a:gridCol w="1729300"/>
              </a:tblGrid>
              <a:tr h="966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TP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87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TN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 rot="-5400000">
            <a:off x="-275450" y="2699125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119600" y="1648750"/>
            <a:ext cx="2837400" cy="3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TP = True Positives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FP = False Positives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FN = False Negatives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TN = True Negatives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6234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Performance Metrics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234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Performance metrics, including accuracy, precision, recall, and F1-score, have been calculated for each date using the provided data and confusion matrices.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Accuracy </a:t>
            </a:r>
            <a:r>
              <a:rPr lang="en" sz="2100"/>
              <a:t>gives the overall correctness of the predictions.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Precision </a:t>
            </a:r>
            <a:r>
              <a:rPr lang="en" sz="2100"/>
              <a:t>measures how many of the predicted positive cases were actually positive.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Recall </a:t>
            </a:r>
            <a:r>
              <a:rPr lang="en" sz="2100"/>
              <a:t>measures how many of the actual positive cases were correctly predicted.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F1</a:t>
            </a:r>
            <a:r>
              <a:rPr lang="en" sz="2100"/>
              <a:t>-</a:t>
            </a:r>
            <a:r>
              <a:rPr b="1" lang="en" sz="2100"/>
              <a:t>score</a:t>
            </a:r>
            <a:r>
              <a:rPr lang="en" sz="2100"/>
              <a:t> is the harmonic mean of precision and recall and provides a balance between them.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42300" y="44502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Metrics Calculation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77000" y="80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Accuracy = (Correct predictions) / (Total predictions)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Precision = (True Positives) / (True Positives + False Positives)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Recall = (True Positives) / (True Positives + False Negatives)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F1-Score = 2 * (Precision * Recall) / (Precision + Recall)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77000" y="10107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Mackerel Model Updates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477000" y="80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/>
              <a:t>V1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V2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/>
              <a:t>Replaced V1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Cuts and damages model updated for both Mackerel and Sardine with V1 for freshness classification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Changed model architecture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Changed model architecture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Changed model architecture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Back to V6 from V7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Updated cuts and damages model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Updated CNN model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Updated CNN model and cuts model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77000" y="10107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Mackerel Model Updates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77000" y="80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 sz="2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CNN architecture &amp; Reduced damage detection threshold</a:t>
            </a:r>
            <a:endParaRPr sz="2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Times New Roman"/>
              <a:buAutoNum type="arabicParenR"/>
            </a:pPr>
            <a:r>
              <a:rPr lang="en" sz="2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Changed the image </a:t>
            </a:r>
            <a:r>
              <a:rPr lang="en" sz="2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compression</a:t>
            </a:r>
            <a:r>
              <a:rPr lang="en" sz="2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</a:t>
            </a:r>
            <a:endParaRPr sz="2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Times New Roman"/>
              <a:buAutoNum type="arabicParenR"/>
            </a:pPr>
            <a:r>
              <a:rPr lang="en" sz="2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CNN architecture</a:t>
            </a:r>
            <a:endParaRPr sz="2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 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Mackerel (24-Aug-23 to 5-Oct-23)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05" name="Google Shape;105;p2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885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2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21"/>
          <p:cNvGraphicFramePr/>
          <p:nvPr/>
        </p:nvGraphicFramePr>
        <p:xfrm>
          <a:off x="3527175" y="182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51550"/>
                <a:gridCol w="988375"/>
                <a:gridCol w="915700"/>
                <a:gridCol w="964375"/>
                <a:gridCol w="867025"/>
              </a:tblGrid>
              <a:tr h="53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7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6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1286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3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1286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V2 Mackerel (6-Oct-23 to 12-Oct-23)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16" name="Google Shape;116;p2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8" name="Google Shape;118;p22"/>
          <p:cNvGraphicFramePr/>
          <p:nvPr/>
        </p:nvGraphicFramePr>
        <p:xfrm>
          <a:off x="3537650" y="16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V3 Mackerel (13-Oct-23 to 22-Oct-23)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25" name="Google Shape;125;p2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2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8" name="Google Shape;128;p23"/>
          <p:cNvGraphicFramePr/>
          <p:nvPr/>
        </p:nvGraphicFramePr>
        <p:xfrm>
          <a:off x="3537650" y="16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V4 Mackerel (23-Oct-23 to 31-Dec-23)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35" name="Google Shape;135;p2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2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" name="Google Shape;138;p24"/>
          <p:cNvGraphicFramePr/>
          <p:nvPr/>
        </p:nvGraphicFramePr>
        <p:xfrm>
          <a:off x="3537650" y="167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1458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V5 Mackerel (01-Jan-24 to 15-Jan-24)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45" name="Google Shape;145;p2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2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8" name="Google Shape;148;p2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V6 Mackerel (16-Jan-24 to 04-Mar-24)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55" name="Google Shape;155;p2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790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8" name="Google Shape;158;p2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V7 Mackerel (04-Mar-24 to 27-Mar-24)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65" name="Google Shape;165;p2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2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8" name="Google Shape;168;p27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666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V8 Mackerel (28-Mar-24 to 01-Apr-24)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75" name="Google Shape;175;p2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2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8" name="Google Shape;178;p2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V9 Mackerel (02-Apr-24 to 08-Apr-24)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85" name="Google Shape;185;p2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243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V10 Mackerel (09-Apr-24 to 17-July-24)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195" name="Google Shape;195;p3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3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8" name="Google Shape;198;p3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V11 Mackerel (18-July-24 to 21-Oct-24)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05" name="Google Shape;205;p3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3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8" name="Google Shape;208;p3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322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V12 Mackerel (22-Oct-24 to 28-Oct-24)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15" name="Google Shape;215;p3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3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8" name="Google Shape;218;p3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V11 Mackerel (29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-Oct-24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 to 12-Nov-24)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25" name="Google Shape;225;p3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3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8" name="Google Shape;228;p3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235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V13 Mackerel (12-Nov-24 to 01-Dec-24)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35" name="Google Shape;235;p3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3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8" name="Google Shape;238;p3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416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V14 Mackerel (02-Dec-24 to 24-Dec-24)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3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45" name="Google Shape;245;p3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449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3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8" name="Google Shape;248;p3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</a:t>
                      </a: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V15 Mackerel (25-Dec-24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3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55" name="Google Shape;255;p3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533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3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58" name="Google Shape;258;p3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647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9" name="Google Shape;259;p36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28-Jan-25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>
            <p:ph type="title"/>
          </p:nvPr>
        </p:nvSpPr>
        <p:spPr>
          <a:xfrm>
            <a:off x="311700" y="22892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Sardine 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Model Updates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37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arenR"/>
            </a:pPr>
            <a:r>
              <a:rPr lang="en" sz="1500"/>
              <a:t>V1 - </a:t>
            </a:r>
            <a:r>
              <a:rPr lang="en" sz="1500">
                <a:solidFill>
                  <a:srgbClr val="222222"/>
                </a:solidFill>
                <a:highlight>
                  <a:srgbClr val="FFFFFF"/>
                </a:highlight>
              </a:rPr>
              <a:t>saturation channel histogram as a feature vector for SVM Classifier using cropped images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arenR"/>
            </a:pPr>
            <a:r>
              <a:rPr lang="en" sz="1500"/>
              <a:t>Included cuts and damages model along with v1</a:t>
            </a:r>
            <a:endParaRPr sz="15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 sz="1500"/>
              <a:t>Updated cuts and damages model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Updated freshness model to a transfer learning based CNN model using segmented RGB images - v2. But we were getting cropped images from the backend.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Updated CNN model - v3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Now getting segmented images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Back to v1 and then v2.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Started using black bg instead of white bg as the model has been trained on black bg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Updated preprocessing function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Updated Cuts and damages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type="title"/>
          </p:nvPr>
        </p:nvSpPr>
        <p:spPr>
          <a:xfrm>
            <a:off x="331600" y="244200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Sardine Model Updates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471550" y="955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Size model integrated with scale_hcm=13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Softness model by kartik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Updated cuts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Softness model by sowmya - increased dataset and new model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Reduced threshold for damage detection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 sz="21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Changed the image compression type</a:t>
            </a:r>
            <a:endParaRPr sz="2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Font typeface="Times New Roman"/>
              <a:buAutoNum type="arabicParenR"/>
            </a:pPr>
            <a:r>
              <a:t/>
            </a:r>
            <a:endParaRPr sz="21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 Sardine(06-Sep-23 to 20-Sep-23)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78" name="Google Shape;278;p3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608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3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1" name="Google Shape;281;p3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963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V2 Sardine(21-Sep-23 to 22-Oct-23)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88" name="Google Shape;288;p4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89" name="Google Shape;289;p4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1" name="Google Shape;291;p4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V3 Sardine(23-Oct-23 to 19-Nov-23)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4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298" name="Google Shape;298;p4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299" name="Google Shape;299;p4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4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01" name="Google Shape;301;p4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261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V4 Sardine(20-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Nov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-23 to 28-Nov-23)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4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08" name="Google Shape;308;p4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4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4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1" name="Google Shape;311;p4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V5 Sardine(29-Nov-23 to 30-Nov-23)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18" name="Google Shape;318;p4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19" name="Google Shape;319;p4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4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21" name="Google Shape;321;p4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122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V6 Sardine(05-Dec-23)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4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28" name="Google Shape;328;p4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29" name="Google Shape;329;p4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4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31" name="Google Shape;331;p4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V7 Sardine(06-Dec-23)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38" name="Google Shape;338;p4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4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4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1" name="Google Shape;341;p4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V8 Sardine(07-Dec-23)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4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48" name="Google Shape;348;p4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49" name="Google Shape;349;p4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46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1" name="Google Shape;351;p46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2" name="Google Shape;352;p46"/>
          <p:cNvSpPr txBox="1"/>
          <p:nvPr/>
        </p:nvSpPr>
        <p:spPr>
          <a:xfrm>
            <a:off x="775525" y="4335025"/>
            <a:ext cx="2892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Started using Black bg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V9 Sardine(11-Dec-23 to 01-Apr-24)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4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59" name="Google Shape;359;p4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984000"/>
                <a:gridCol w="984000"/>
              </a:tblGrid>
              <a:tr h="773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1334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5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60" name="Google Shape;360;p4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62" name="Google Shape;362;p4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2291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V10 Sardine(02-Apr-24 to 22-Apr-24)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4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69" name="Google Shape;369;p4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70" name="Google Shape;370;p4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48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2" name="Google Shape;372;p48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V11 Sardine(23-Apr-24 to 10-June-24)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4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79" name="Google Shape;379;p4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80" name="Google Shape;380;p4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49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82" name="Google Shape;382;p49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670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670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V12 Sardine(11-June-24 to 23-July-24)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5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89" name="Google Shape;389;p5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390" name="Google Shape;390;p5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50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92" name="Google Shape;392;p50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159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V13 Sardine(24-July-24 to 21-Oct-24)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5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399" name="Google Shape;399;p5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00" name="Google Shape;400;p5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51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02" name="Google Shape;402;p51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93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V14 Sardine(22-Oct-24 to 12-Nov-24)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5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09" name="Google Shape;409;p5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5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52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12" name="Google Shape;412;p52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341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V15 Sardine(12-Nov-24 to 01-Dec-24)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5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19" name="Google Shape;419;p5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20" name="Google Shape;420;p5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53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22" name="Google Shape;422;p53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597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V16 Sardine(02-Dec-24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5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29" name="Google Shape;429;p5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234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30" name="Google Shape;430;p5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54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32" name="Google Shape;432;p54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619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3" name="Google Shape;433;p54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30-Dec-24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V16 Sardine(02-Dec-24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5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40" name="Google Shape;440;p5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41" name="Google Shape;441;p5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55"/>
          <p:cNvSpPr txBox="1"/>
          <p:nvPr/>
        </p:nvSpPr>
        <p:spPr>
          <a:xfrm>
            <a:off x="4317200" y="110422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3" name="Google Shape;443;p55"/>
          <p:cNvGraphicFramePr/>
          <p:nvPr/>
        </p:nvGraphicFramePr>
        <p:xfrm>
          <a:off x="3665500" y="16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832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1307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/>
                        <a:t>1307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4" name="Google Shape;444;p55"/>
          <p:cNvSpPr txBox="1"/>
          <p:nvPr/>
        </p:nvSpPr>
        <p:spPr>
          <a:xfrm>
            <a:off x="457100" y="44064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28-Jan-25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6"/>
          <p:cNvSpPr txBox="1"/>
          <p:nvPr>
            <p:ph type="title"/>
          </p:nvPr>
        </p:nvSpPr>
        <p:spPr>
          <a:xfrm>
            <a:off x="477000" y="101075"/>
            <a:ext cx="819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White Prawns 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Model Updates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56"/>
          <p:cNvSpPr txBox="1"/>
          <p:nvPr>
            <p:ph idx="1" type="body"/>
          </p:nvPr>
        </p:nvSpPr>
        <p:spPr>
          <a:xfrm>
            <a:off x="477000" y="801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arenR"/>
            </a:pPr>
            <a:r>
              <a:rPr lang="en"/>
              <a:t>V1 - Karthik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V2 - Karthik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V3 - Sowmya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V4 - V2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V5 - Updated architecture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V6 - Updated architecture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V7 - Updated architecture(Hyperparameter tuning)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V8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V9- Updated model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V10- Updated architecture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7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 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White Prawns</a:t>
            </a: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(07-Dec-23 to 26-Dec-23)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57" name="Google Shape;457;p57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58" name="Google Shape;458;p57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57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60" name="Google Shape;460;p57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512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609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609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8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V2 White Prawns(27-Dec-23 to 31-Dec-23)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58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67" name="Google Shape;467;p58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68" name="Google Shape;468;p58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58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70" name="Google Shape;470;p58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733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9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V3 White Prawns(01-Jan-24 to 09-Jan-24)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59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77" name="Google Shape;477;p59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p59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59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80" name="Google Shape;480;p59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0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V4 White Prawns(10-Jan-24 to 22-Jan-24)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60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87" name="Google Shape;487;p60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636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88" name="Google Shape;488;p60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60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90" name="Google Shape;490;p60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915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1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V5 White Prawns(23-Jan-24 to 19-Feb-24)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61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497" name="Google Shape;497;p61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498" name="Google Shape;498;p61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61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00" name="Google Shape;500;p61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867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867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2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V6 White Prawns(20-Feb-24 to 14-Mar-24)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62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07" name="Google Shape;507;p62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939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493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62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62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10" name="Google Shape;510;p62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1171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1873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1873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3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V7 White Prawns(15-Mar-24 to 15-Apr-24)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63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17" name="Google Shape;517;p63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155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18" name="Google Shape;518;p63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63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20" name="Google Shape;520;p63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916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916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4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V8 White Prawns(16-Apr-24 to 10-Sep-24)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64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27" name="Google Shape;527;p64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412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269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591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28" name="Google Shape;528;p64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9" name="Google Shape;529;p64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30" name="Google Shape;530;p64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1535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5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V9 White Prawns(10-Sep-24 to 30-Dec-24)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65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37" name="Google Shape;537;p65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38" name="Google Shape;538;p65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65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40" name="Google Shape;540;p65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423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41" name="Google Shape;541;p65"/>
          <p:cNvSpPr txBox="1"/>
          <p:nvPr/>
        </p:nvSpPr>
        <p:spPr>
          <a:xfrm>
            <a:off x="521125" y="44260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30-Dec-24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6"/>
          <p:cNvSpPr txBox="1"/>
          <p:nvPr>
            <p:ph type="title"/>
          </p:nvPr>
        </p:nvSpPr>
        <p:spPr>
          <a:xfrm>
            <a:off x="672700" y="232600"/>
            <a:ext cx="804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Times New Roman"/>
                <a:ea typeface="Times New Roman"/>
                <a:cs typeface="Times New Roman"/>
                <a:sym typeface="Times New Roman"/>
              </a:rPr>
              <a:t>V10 White Prawns(31-Dec-24 to today)</a:t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66"/>
          <p:cNvSpPr txBox="1"/>
          <p:nvPr>
            <p:ph idx="1" type="body"/>
          </p:nvPr>
        </p:nvSpPr>
        <p:spPr>
          <a:xfrm>
            <a:off x="175900" y="1360475"/>
            <a:ext cx="3489600" cy="31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Actual Values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Bad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  <p:graphicFrame>
        <p:nvGraphicFramePr>
          <p:cNvPr id="548" name="Google Shape;548;p66"/>
          <p:cNvGraphicFramePr/>
          <p:nvPr/>
        </p:nvGraphicFramePr>
        <p:xfrm>
          <a:off x="1421675" y="2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800000"/>
                <a:gridCol w="800000"/>
              </a:tblGrid>
              <a:tr h="705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287</a:t>
                      </a:r>
                      <a:endParaRPr sz="2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</a:tr>
              <a:tr h="6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  <p:sp>
        <p:nvSpPr>
          <p:cNvPr id="549" name="Google Shape;549;p66"/>
          <p:cNvSpPr txBox="1"/>
          <p:nvPr/>
        </p:nvSpPr>
        <p:spPr>
          <a:xfrm rot="-5400000">
            <a:off x="-683600" y="2308613"/>
            <a:ext cx="28068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Predicted Values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66"/>
          <p:cNvSpPr txBox="1"/>
          <p:nvPr/>
        </p:nvSpPr>
        <p:spPr>
          <a:xfrm>
            <a:off x="4317200" y="1253975"/>
            <a:ext cx="3489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Classification Metrics Report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51" name="Google Shape;551;p66"/>
          <p:cNvGraphicFramePr/>
          <p:nvPr/>
        </p:nvGraphicFramePr>
        <p:xfrm>
          <a:off x="3665500" y="177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{28B765AA-0137-4B6A-8D39-577D6BA548BF}</a:tableStyleId>
              </a:tblPr>
              <a:tblGrid>
                <a:gridCol w="1412850"/>
                <a:gridCol w="962025"/>
                <a:gridCol w="891250"/>
                <a:gridCol w="938650"/>
                <a:gridCol w="843925"/>
              </a:tblGrid>
              <a:tr h="6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Support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Good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15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Bad fish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0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2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Weighted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458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2" name="Google Shape;552;p66"/>
          <p:cNvSpPr txBox="1"/>
          <p:nvPr/>
        </p:nvSpPr>
        <p:spPr>
          <a:xfrm>
            <a:off x="521125" y="4426075"/>
            <a:ext cx="2423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Today : 28-Jan-25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