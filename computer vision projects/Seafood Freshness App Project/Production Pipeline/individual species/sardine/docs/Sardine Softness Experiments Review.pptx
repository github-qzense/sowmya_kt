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2"/>
      <p:bold r:id="rId23"/>
      <p:italic r:id="rId24"/>
      <p:boldItalic r:id="rId25"/>
    </p:embeddedFont>
    <p:embeddedFont>
      <p:font typeface="Roboto Light" panose="020F0502020204030204" pitchFamily="2" charset="0"/>
      <p:regular r:id="rId26"/>
      <p:bold r:id="rId27"/>
      <p:italic r:id="rId28"/>
      <p:boldItalic r:id="rId29"/>
    </p:embeddedFont>
    <p:embeddedFont>
      <p:font typeface="Trebuchet MS" panose="020B060302020202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C19EE9D-6B77-4566-A677-316885A9CDB1}">
  <a:tblStyle styleId="{CC19EE9D-6B77-4566-A677-316885A9CDB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370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21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a3c8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a3c8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c6fa3c89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c6fa3c89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c6fa3c898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c6fa3c898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fedf84bff6_0_1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fedf84bff6_0_1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017e4f2b3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017e4f2b3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fedf84bff6_0_18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fedf84bff6_0_18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fedf84bff6_0_19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fedf84bff6_0_19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fedf84bff6_0_19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fedf84bff6_0_19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fedf84bff6_0_19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fedf84bff6_0_19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fedf84bff6_0_19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fedf84bff6_0_19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fedf84bff6_0_9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fedf84bff6_0_9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fedf84bff6_0_20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fedf84bff6_0_20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fedf84bff6_0_19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fedf84bff6_0_19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fedf84bff6_0_19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fedf84bff6_0_19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fedf84bff6_0_19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fedf84bff6_0_19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fedf84bff6_0_19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fedf84bff6_0_19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fedf84bff6_0_1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fedf84bff6_0_1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c6fa3c898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c6fa3c898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c6fa3c898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c6fa3c898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ometr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sowmyamaddala/qzense-labs-3-species-datase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kaggle.com/datasets/sowmyamaddala/organized-sardine-segmented-dataset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presentation/d/1g0w5x9ZTYuQVH-MUDM-q5hnHZXnYcxv4sM7WndM0oBE/edit#slide=id.g2d499257dae_0_148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Fish Quality Classification Project</a:t>
            </a:r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598088" y="3328238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Sowmya Maddala • 22.10.2024</a:t>
            </a:r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598088" y="26140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2242"/>
              <a:t>Comprehensive Experiment Review</a:t>
            </a:r>
            <a:endParaRPr sz="2242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265500" y="1912650"/>
            <a:ext cx="4045200" cy="13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Objective: 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Classify fish images into "Good" or "Bad" categories based on the quality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Species Focus: 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Sardine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Motivation: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Improve model performance for app testing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Collection and Preparation</a:t>
            </a:r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3931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 b="1">
                <a:solidFill>
                  <a:schemeClr val="dk1"/>
                </a:solidFill>
              </a:rPr>
              <a:t>Data Sources</a:t>
            </a:r>
            <a:endParaRPr sz="365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50"/>
              <a:t>Daily data collected from S3 and manual data till Oct-8-2024, uploaded to Kaggle as </a:t>
            </a:r>
            <a:r>
              <a:rPr lang="en" sz="2850" u="sng">
                <a:solidFill>
                  <a:schemeClr val="hlink"/>
                </a:solidFill>
                <a:hlinkClick r:id="rId3"/>
              </a:rPr>
              <a:t>private dataset</a:t>
            </a:r>
            <a:endParaRPr sz="28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 b="1">
                <a:solidFill>
                  <a:schemeClr val="dk1"/>
                </a:solidFill>
              </a:rPr>
              <a:t>Dataset Segmentation</a:t>
            </a:r>
            <a:endParaRPr sz="3650" b="1">
              <a:solidFill>
                <a:schemeClr val="dk1"/>
              </a:solidFill>
            </a:endParaRPr>
          </a:p>
          <a:p>
            <a:pPr marL="457200" lvl="0" indent="-341709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2850"/>
              <a:t>Segmented and organized “</a:t>
            </a:r>
            <a:r>
              <a:rPr lang="en" sz="2850">
                <a:latin typeface="Trebuchet MS"/>
                <a:ea typeface="Trebuchet MS"/>
                <a:cs typeface="Trebuchet MS"/>
                <a:sym typeface="Trebuchet MS"/>
              </a:rPr>
              <a:t>single</a:t>
            </a:r>
            <a:r>
              <a:rPr lang="en" sz="2850"/>
              <a:t>” fish image data into ‘Good’ and ‘Bad’ folders in </a:t>
            </a:r>
            <a:r>
              <a:rPr lang="en" sz="2850" u="sng">
                <a:solidFill>
                  <a:schemeClr val="hlink"/>
                </a:solidFill>
                <a:hlinkClick r:id="rId4"/>
              </a:rPr>
              <a:t>Kaggle</a:t>
            </a:r>
            <a:r>
              <a:rPr lang="en" sz="2850"/>
              <a:t>.</a:t>
            </a:r>
            <a:endParaRPr sz="2850"/>
          </a:p>
          <a:p>
            <a:pPr marL="457200" lvl="0" indent="-341709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2850"/>
              <a:t>500 images of the app testing data per class has been included in training and validation datasets as they are 3 fish “</a:t>
            </a:r>
            <a:r>
              <a:rPr lang="en" sz="2850">
                <a:latin typeface="Trebuchet MS"/>
                <a:ea typeface="Trebuchet MS"/>
                <a:cs typeface="Trebuchet MS"/>
                <a:sym typeface="Trebuchet MS"/>
              </a:rPr>
              <a:t>group” </a:t>
            </a:r>
            <a:r>
              <a:rPr lang="en" sz="2850"/>
              <a:t>images.</a:t>
            </a:r>
            <a:endParaRPr sz="285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497"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Distribution</a:t>
            </a:r>
            <a:endParaRPr/>
          </a:p>
        </p:txBody>
      </p:sp>
      <p:graphicFrame>
        <p:nvGraphicFramePr>
          <p:cNvPr id="105" name="Google Shape;105;p16"/>
          <p:cNvGraphicFramePr/>
          <p:nvPr/>
        </p:nvGraphicFramePr>
        <p:xfrm>
          <a:off x="953600" y="128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{CC19EE9D-6B77-4566-A677-316885A9CDB1}</a:tableStyleId>
              </a:tblPr>
              <a:tblGrid>
                <a:gridCol w="199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8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8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0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/>
                        <a:t>Dataset</a:t>
                      </a:r>
                      <a:endParaRPr sz="20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/>
                        <a:t>Good</a:t>
                      </a:r>
                      <a:endParaRPr sz="20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/>
                        <a:t>Bad</a:t>
                      </a:r>
                      <a:endParaRPr sz="20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Training</a:t>
                      </a:r>
                      <a:endParaRPr sz="1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5968</a:t>
                      </a:r>
                      <a:endParaRPr sz="1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6010</a:t>
                      </a:r>
                      <a:endParaRPr sz="1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Validation</a:t>
                      </a:r>
                      <a:endParaRPr sz="1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1869</a:t>
                      </a:r>
                      <a:endParaRPr sz="1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1873</a:t>
                      </a:r>
                      <a:endParaRPr sz="1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Test</a:t>
                      </a:r>
                      <a:endParaRPr sz="1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1712</a:t>
                      </a:r>
                      <a:endParaRPr sz="1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1711</a:t>
                      </a:r>
                      <a:endParaRPr sz="1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Unseen</a:t>
                      </a:r>
                      <a:endParaRPr sz="1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50</a:t>
                      </a:r>
                      <a:endParaRPr sz="1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51</a:t>
                      </a:r>
                      <a:endParaRPr sz="1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App testing data</a:t>
                      </a:r>
                      <a:endParaRPr sz="1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1423</a:t>
                      </a:r>
                      <a:endParaRPr sz="1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670</a:t>
                      </a:r>
                      <a:endParaRPr sz="1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Hyperparameter Tuning</a:t>
            </a:r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body" idx="1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❖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Batch sizes: 16, 32, 64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❖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Dropout rates: 0.1 to 0.5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❖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Learning rates: 1e-5 to 0.01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❖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Dataset sizes: 1000 to 4000 for each class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❖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best hyperparameter selection: grid search cv and random search cv, keras auto tuner.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❖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Epochs: 10 to 200</a:t>
            </a:r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7"/>
          <p:cNvSpPr txBox="1">
            <a:spLocks noGrp="1"/>
          </p:cNvSpPr>
          <p:nvPr>
            <p:ph type="body" idx="2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❖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Preprocess input functions : densenet, mobilenet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❖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Data augmentation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❖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Dataset versions: only softness, single softness, single+group softness, all combined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❖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Different pre-trained imagenet models as base models.</a:t>
            </a:r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 1: Initial Model Training </a:t>
            </a:r>
            <a:endParaRPr/>
          </a:p>
        </p:txBody>
      </p:sp>
      <p:sp>
        <p:nvSpPr>
          <p:cNvPr id="118" name="Google Shape;118;p18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46455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Architecture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 Model: DenseNet121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Layers: Global Average Pooling 2D, Dense (128 neurons), Dropout (20%), Dense (32 neurons), Sigmoid Output.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Framework and Configurations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TensorFlow Version: 2.15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Training for 50 epochs, batch size of 32, input size 224x224 without data augmentation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Callbacks: ReduceLROnPlateau, EarlyStopping.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endParaRPr sz="15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8"/>
          <p:cNvSpPr txBox="1">
            <a:spLocks noGrp="1"/>
          </p:cNvSpPr>
          <p:nvPr>
            <p:ph type="body" idx="1"/>
          </p:nvPr>
        </p:nvSpPr>
        <p:spPr>
          <a:xfrm>
            <a:off x="4957200" y="1229875"/>
            <a:ext cx="4032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15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Training Accuracy: 77%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Validation Accuracy: 74%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Testing Accuracy: 73%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Unseen Data Accuracy: 76%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5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Insights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Initial model showed 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good promise but indicated overfitting.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770"/>
              <a:buNone/>
            </a:pP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 2: Adding Regularization and More Layers</a:t>
            </a:r>
            <a:endParaRPr/>
          </a:p>
        </p:txBody>
      </p:sp>
      <p:sp>
        <p:nvSpPr>
          <p:cNvPr id="125" name="Google Shape;125;p19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44382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Updated Model Architecture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 Model: DenseNet121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Additional Layers: Global Average Pooling 2D, Dense (512 neurons, L2 regularization 0.0001), Dense (128 neurons), Dropout (20%), Dense (32 neurons), Sigmoid Output.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Framework and Configurations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TensorFlow Version: 2.10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Training Configuration: Same as before, but training stopped early at the 18th epoch due to EarlyStopping.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endParaRPr sz="15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9"/>
          <p:cNvSpPr txBox="1">
            <a:spLocks noGrp="1"/>
          </p:cNvSpPr>
          <p:nvPr>
            <p:ph type="body" idx="1"/>
          </p:nvPr>
        </p:nvSpPr>
        <p:spPr>
          <a:xfrm>
            <a:off x="4799400" y="1229875"/>
            <a:ext cx="4032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Training Accuracy: 82%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Validation Accuracy: 76%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Accuracy: 76%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Unseen Data Accuracy: 80%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Challenges Faced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 testing data predictions were biased towards the "Good" class.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Hypothesized that the lack of segmented group fish images in training data contributed to bias.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endParaRPr sz="15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 3: Increased neurons</a:t>
            </a:r>
            <a:endParaRPr/>
          </a:p>
        </p:txBody>
      </p:sp>
      <p:sp>
        <p:nvSpPr>
          <p:cNvPr id="132" name="Google Shape;132;p20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44382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Updated Model Architecture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5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 Model</a:t>
            </a:r>
            <a:r>
              <a:rPr lang="en" sz="15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DenseNet121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Layers</a:t>
            </a:r>
            <a:r>
              <a:rPr lang="en" sz="15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Global Average Pooling 2D, Dense (512 neurons, L2 regularization), Dropout (20%), Dense (</a:t>
            </a:r>
            <a:r>
              <a:rPr lang="en" sz="15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256 neurons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 Dense (32 neurons), Sigmoid Output.</a:t>
            </a:r>
            <a:endParaRPr sz="15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Framework and Configurations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TensorFlow Version: 2.10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Training Configuration: Same as before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endParaRPr sz="15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0"/>
          <p:cNvSpPr txBox="1">
            <a:spLocks noGrp="1"/>
          </p:cNvSpPr>
          <p:nvPr>
            <p:ph type="body" idx="1"/>
          </p:nvPr>
        </p:nvSpPr>
        <p:spPr>
          <a:xfrm>
            <a:off x="4799400" y="1229875"/>
            <a:ext cx="4032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Similar performance; training and validation metrics did not improve significantly.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endParaRPr sz="15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3310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 4: Batch Normalization and additional fine-tuning</a:t>
            </a:r>
            <a:endParaRPr/>
          </a:p>
        </p:txBody>
      </p:sp>
      <p:sp>
        <p:nvSpPr>
          <p:cNvPr id="139" name="Google Shape;139;p21"/>
          <p:cNvSpPr txBox="1">
            <a:spLocks noGrp="1"/>
          </p:cNvSpPr>
          <p:nvPr>
            <p:ph type="body" idx="1"/>
          </p:nvPr>
        </p:nvSpPr>
        <p:spPr>
          <a:xfrm>
            <a:off x="311700" y="1457650"/>
            <a:ext cx="83310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Modifications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 Dataset Version: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Included segmented images of group fish (500 images per class for training and validation) from app testing data in training and validation data.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 u="sng">
                <a:latin typeface="Arial"/>
                <a:ea typeface="Arial"/>
                <a:cs typeface="Arial"/>
                <a:sym typeface="Arial"/>
              </a:rPr>
              <a:t>Incorporated Batch Normalization:</a:t>
            </a:r>
            <a:endParaRPr sz="1500" u="sng">
              <a:latin typeface="Arial"/>
              <a:ea typeface="Arial"/>
              <a:cs typeface="Arial"/>
              <a:sym typeface="Arial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AutoNum type="alphaLcPeriod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Significance: Normalizes outputs for faster training and better performance.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AutoNum type="alphaLcPeriod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Enhanced model stability and convergence.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Architecture: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AutoNum type="alphaLcPeriod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Included Batch Normalization layers after dense layers.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AutoNum type="alphaLcPeriod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Applied </a:t>
            </a:r>
            <a:r>
              <a:rPr lang="en" sz="15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L2 Regularization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the </a:t>
            </a:r>
            <a:r>
              <a:rPr lang="en" sz="15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 layer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prevent overfitting.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 u="sng">
                <a:latin typeface="Arial"/>
                <a:ea typeface="Arial"/>
                <a:cs typeface="Arial"/>
                <a:sym typeface="Arial"/>
              </a:rPr>
              <a:t>Further Model Changes: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 Enabled all layers of the base model for training (fine-tuning).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/>
        </p:nvSpPr>
        <p:spPr>
          <a:xfrm>
            <a:off x="4572000" y="1499075"/>
            <a:ext cx="3796500" cy="29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b="1"/>
              <a:t>Performance Results</a:t>
            </a:r>
            <a:r>
              <a:rPr lang="en" sz="1500"/>
              <a:t>:</a:t>
            </a:r>
            <a:endParaRPr sz="1500"/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Training Accuracy: 88%</a:t>
            </a:r>
            <a:endParaRPr sz="150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Validation Accuracy: 81%</a:t>
            </a:r>
            <a:endParaRPr sz="150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Test Accuracy: 83%</a:t>
            </a:r>
            <a:endParaRPr sz="150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Unseen Data Accuracy: 86%</a:t>
            </a:r>
            <a:endParaRPr sz="150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App Testing Data Accuracy: 81%</a:t>
            </a:r>
            <a:endParaRPr sz="15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b="1"/>
              <a:t>Insights</a:t>
            </a:r>
            <a:r>
              <a:rPr lang="en" sz="1500"/>
              <a:t>: The introduction of batch normalization significantly boosted performance metrics.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 4: Batch Normalization and additional fine-tuning</a:t>
            </a:r>
            <a:endParaRPr/>
          </a:p>
        </p:txBody>
      </p:sp>
      <p:sp>
        <p:nvSpPr>
          <p:cNvPr id="146" name="Google Shape;146;p22"/>
          <p:cNvSpPr txBox="1">
            <a:spLocks noGrp="1"/>
          </p:cNvSpPr>
          <p:nvPr>
            <p:ph type="body" idx="1"/>
          </p:nvPr>
        </p:nvSpPr>
        <p:spPr>
          <a:xfrm>
            <a:off x="311700" y="1499075"/>
            <a:ext cx="37965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Framework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TensorFlow Version: 2.16 (model loading issue fixed).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Training Configuration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Continued training from saved weights (previous 50-epoch model).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Learning Rate: Lowered to 1e-5.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 for 20 epochs with data augmentation.</a:t>
            </a:r>
            <a:endParaRPr sz="15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>
            <a:spLocks noGrp="1"/>
          </p:cNvSpPr>
          <p:nvPr>
            <p:ph type="title" idx="4294967295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 5: Exploring Other Base Models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2" name="Google Shape;152;p23"/>
          <p:cNvGrpSpPr/>
          <p:nvPr/>
        </p:nvGrpSpPr>
        <p:grpSpPr>
          <a:xfrm>
            <a:off x="431825" y="1342525"/>
            <a:ext cx="2683300" cy="3302700"/>
            <a:chOff x="431825" y="1342525"/>
            <a:chExt cx="2683300" cy="3302700"/>
          </a:xfrm>
        </p:grpSpPr>
        <p:sp>
          <p:nvSpPr>
            <p:cNvPr id="153" name="Google Shape;153;p23"/>
            <p:cNvSpPr/>
            <p:nvPr/>
          </p:nvSpPr>
          <p:spPr>
            <a:xfrm>
              <a:off x="431825" y="1342525"/>
              <a:ext cx="2683200" cy="33027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3"/>
            <p:cNvSpPr txBox="1"/>
            <p:nvPr/>
          </p:nvSpPr>
          <p:spPr>
            <a:xfrm>
              <a:off x="431925" y="1342525"/>
              <a:ext cx="2683200" cy="823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" name="Google Shape;155;p23"/>
          <p:cNvSpPr txBox="1">
            <a:spLocks noGrp="1"/>
          </p:cNvSpPr>
          <p:nvPr>
            <p:ph type="body" idx="4294967295"/>
          </p:nvPr>
        </p:nvSpPr>
        <p:spPr>
          <a:xfrm>
            <a:off x="489192" y="1337725"/>
            <a:ext cx="349500" cy="82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1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56" name="Google Shape;156;p23"/>
          <p:cNvCxnSpPr/>
          <p:nvPr/>
        </p:nvCxnSpPr>
        <p:spPr>
          <a:xfrm>
            <a:off x="857675" y="1514725"/>
            <a:ext cx="0" cy="478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7" name="Google Shape;157;p23"/>
          <p:cNvSpPr txBox="1">
            <a:spLocks noGrp="1"/>
          </p:cNvSpPr>
          <p:nvPr>
            <p:ph type="body" idx="4294967295"/>
          </p:nvPr>
        </p:nvSpPr>
        <p:spPr>
          <a:xfrm>
            <a:off x="933875" y="1337725"/>
            <a:ext cx="2101800" cy="82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Pre-trained models tested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8" name="Google Shape;158;p23"/>
          <p:cNvSpPr txBox="1">
            <a:spLocks noGrp="1"/>
          </p:cNvSpPr>
          <p:nvPr>
            <p:ph type="body" idx="4294967295"/>
          </p:nvPr>
        </p:nvSpPr>
        <p:spPr>
          <a:xfrm>
            <a:off x="508125" y="2268950"/>
            <a:ext cx="2530800" cy="237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MobileNet V2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DenseNet 121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DenseNet 169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DenseNet 201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VGG 16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VGG 19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Resnet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400"/>
          </a:p>
        </p:txBody>
      </p:sp>
      <p:grpSp>
        <p:nvGrpSpPr>
          <p:cNvPr id="159" name="Google Shape;159;p23"/>
          <p:cNvGrpSpPr/>
          <p:nvPr/>
        </p:nvGrpSpPr>
        <p:grpSpPr>
          <a:xfrm>
            <a:off x="3221800" y="1342525"/>
            <a:ext cx="2673004" cy="3302700"/>
            <a:chOff x="3221800" y="1342525"/>
            <a:chExt cx="2673004" cy="3302700"/>
          </a:xfrm>
        </p:grpSpPr>
        <p:sp>
          <p:nvSpPr>
            <p:cNvPr id="160" name="Google Shape;160;p23"/>
            <p:cNvSpPr/>
            <p:nvPr/>
          </p:nvSpPr>
          <p:spPr>
            <a:xfrm>
              <a:off x="3221803" y="1342525"/>
              <a:ext cx="2673000" cy="33027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3"/>
            <p:cNvSpPr txBox="1"/>
            <p:nvPr/>
          </p:nvSpPr>
          <p:spPr>
            <a:xfrm>
              <a:off x="3221800" y="1342525"/>
              <a:ext cx="2673000" cy="823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2" name="Google Shape;162;p23"/>
          <p:cNvSpPr txBox="1">
            <a:spLocks noGrp="1"/>
          </p:cNvSpPr>
          <p:nvPr>
            <p:ph type="body" idx="4294967295"/>
          </p:nvPr>
        </p:nvSpPr>
        <p:spPr>
          <a:xfrm>
            <a:off x="3275767" y="1337725"/>
            <a:ext cx="349500" cy="82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2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63" name="Google Shape;163;p23"/>
          <p:cNvCxnSpPr/>
          <p:nvPr/>
        </p:nvCxnSpPr>
        <p:spPr>
          <a:xfrm>
            <a:off x="3647550" y="1514725"/>
            <a:ext cx="0" cy="478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4" name="Google Shape;164;p23"/>
          <p:cNvSpPr txBox="1">
            <a:spLocks noGrp="1"/>
          </p:cNvSpPr>
          <p:nvPr>
            <p:ph type="body" idx="4294967295"/>
          </p:nvPr>
        </p:nvSpPr>
        <p:spPr>
          <a:xfrm>
            <a:off x="3723750" y="1342525"/>
            <a:ext cx="2101800" cy="82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Learning Rate Schedulers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5" name="Google Shape;165;p23"/>
          <p:cNvSpPr txBox="1">
            <a:spLocks noGrp="1"/>
          </p:cNvSpPr>
          <p:nvPr>
            <p:ph type="body" idx="4294967295"/>
          </p:nvPr>
        </p:nvSpPr>
        <p:spPr>
          <a:xfrm>
            <a:off x="3294700" y="2268950"/>
            <a:ext cx="2530800" cy="237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Compared </a:t>
            </a:r>
            <a:r>
              <a:rPr lang="en" sz="1600" b="1">
                <a:solidFill>
                  <a:srgbClr val="000000"/>
                </a:solidFill>
              </a:rPr>
              <a:t>Exponential Decay</a:t>
            </a:r>
            <a:r>
              <a:rPr lang="en" sz="1600">
                <a:solidFill>
                  <a:srgbClr val="000000"/>
                </a:solidFill>
              </a:rPr>
              <a:t> vs. </a:t>
            </a:r>
            <a:r>
              <a:rPr lang="en" sz="1600" b="1">
                <a:solidFill>
                  <a:srgbClr val="000000"/>
                </a:solidFill>
              </a:rPr>
              <a:t>ReduceLROnPlateau</a:t>
            </a:r>
            <a:r>
              <a:rPr lang="en" sz="1600">
                <a:solidFill>
                  <a:srgbClr val="000000"/>
                </a:solidFill>
              </a:rPr>
              <a:t>, with ReduceLROnPlateau being most effective.</a:t>
            </a:r>
            <a:endParaRPr sz="1600"/>
          </a:p>
        </p:txBody>
      </p:sp>
      <p:grpSp>
        <p:nvGrpSpPr>
          <p:cNvPr id="166" name="Google Shape;166;p23"/>
          <p:cNvGrpSpPr/>
          <p:nvPr/>
        </p:nvGrpSpPr>
        <p:grpSpPr>
          <a:xfrm>
            <a:off x="6007125" y="1342525"/>
            <a:ext cx="2673000" cy="3302700"/>
            <a:chOff x="6007125" y="1342525"/>
            <a:chExt cx="2673000" cy="3302700"/>
          </a:xfrm>
        </p:grpSpPr>
        <p:sp>
          <p:nvSpPr>
            <p:cNvPr id="167" name="Google Shape;167;p23"/>
            <p:cNvSpPr/>
            <p:nvPr/>
          </p:nvSpPr>
          <p:spPr>
            <a:xfrm>
              <a:off x="6007125" y="1342525"/>
              <a:ext cx="2673000" cy="33027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3"/>
            <p:cNvSpPr txBox="1"/>
            <p:nvPr/>
          </p:nvSpPr>
          <p:spPr>
            <a:xfrm>
              <a:off x="6007125" y="1342525"/>
              <a:ext cx="2673000" cy="823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9" name="Google Shape;169;p23"/>
          <p:cNvSpPr txBox="1">
            <a:spLocks noGrp="1"/>
          </p:cNvSpPr>
          <p:nvPr>
            <p:ph type="body" idx="4294967295"/>
          </p:nvPr>
        </p:nvSpPr>
        <p:spPr>
          <a:xfrm>
            <a:off x="6058742" y="1337725"/>
            <a:ext cx="349500" cy="82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3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70" name="Google Shape;170;p23"/>
          <p:cNvCxnSpPr/>
          <p:nvPr/>
        </p:nvCxnSpPr>
        <p:spPr>
          <a:xfrm>
            <a:off x="6427225" y="1514725"/>
            <a:ext cx="0" cy="478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1" name="Google Shape;171;p23"/>
          <p:cNvSpPr txBox="1">
            <a:spLocks noGrp="1"/>
          </p:cNvSpPr>
          <p:nvPr>
            <p:ph type="body" idx="4294967295"/>
          </p:nvPr>
        </p:nvSpPr>
        <p:spPr>
          <a:xfrm>
            <a:off x="6503425" y="1342525"/>
            <a:ext cx="2101800" cy="82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Model Weights Used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2" name="Google Shape;172;p23"/>
          <p:cNvSpPr txBox="1">
            <a:spLocks noGrp="1"/>
          </p:cNvSpPr>
          <p:nvPr>
            <p:ph type="body" idx="4294967295"/>
          </p:nvPr>
        </p:nvSpPr>
        <p:spPr>
          <a:xfrm>
            <a:off x="6077675" y="2268950"/>
            <a:ext cx="2530800" cy="237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Both </a:t>
            </a:r>
            <a:r>
              <a:rPr lang="en" sz="1600" b="1"/>
              <a:t>checkpoint </a:t>
            </a:r>
            <a:r>
              <a:rPr lang="en" sz="1600"/>
              <a:t>and </a:t>
            </a:r>
            <a:r>
              <a:rPr lang="en" sz="1600" b="1"/>
              <a:t>final weights </a:t>
            </a:r>
            <a:r>
              <a:rPr lang="en" sz="1600"/>
              <a:t>are viable options for fine-tuning, but checkpoint weights can help resume training from an earlier point in case of interruptions.</a:t>
            </a:r>
            <a:endParaRPr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Summary</a:t>
            </a:r>
            <a:endParaRPr/>
          </a:p>
        </p:txBody>
      </p:sp>
      <p:graphicFrame>
        <p:nvGraphicFramePr>
          <p:cNvPr id="178" name="Google Shape;178;p24"/>
          <p:cNvGraphicFramePr/>
          <p:nvPr/>
        </p:nvGraphicFramePr>
        <p:xfrm>
          <a:off x="434850" y="120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{CC19EE9D-6B77-4566-A677-316885A9CDB1}</a:tableStyleId>
              </a:tblPr>
              <a:tblGrid>
                <a:gridCol w="155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6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6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6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Pre-trained Model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Validation Accuracy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Test Accuracy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App testing accuracy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MobileNet V2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83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79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DenseNet 121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83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81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DenseNet 169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79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79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DenseNet 201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VGG 16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77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76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VGG 19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79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Resnet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79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77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Best Performing Model Architecture</a:t>
            </a:r>
            <a:endParaRPr/>
          </a:p>
        </p:txBody>
      </p:sp>
      <p:pic>
        <p:nvPicPr>
          <p:cNvPr id="184" name="Google Shape;18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250" y="1017800"/>
            <a:ext cx="6467500" cy="382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Confusion Matrices Analysis</a:t>
            </a:r>
            <a:endParaRPr/>
          </a:p>
        </p:txBody>
      </p:sp>
      <p:sp>
        <p:nvSpPr>
          <p:cNvPr id="190" name="Google Shape;190;p26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-"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Achieved </a:t>
            </a:r>
            <a:r>
              <a:rPr lang="en" sz="20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86% </a:t>
            </a: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accuracy on October 8-20 data collected.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-"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 to Confusion Matrices Presentation: [</a:t>
            </a:r>
            <a:r>
              <a:rPr lang="en" sz="2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Link</a:t>
            </a: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8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Accuracy Loss Plots of fine-tuning</a:t>
            </a:r>
            <a:endParaRPr/>
          </a:p>
        </p:txBody>
      </p:sp>
      <p:pic>
        <p:nvPicPr>
          <p:cNvPr id="203" name="Google Shape;20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42050"/>
            <a:ext cx="9143999" cy="3754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9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Faced</a:t>
            </a:r>
            <a:endParaRPr/>
          </a:p>
        </p:txBody>
      </p:sp>
      <p:sp>
        <p:nvSpPr>
          <p:cNvPr id="209" name="Google Shape;209;p29"/>
          <p:cNvSpPr txBox="1">
            <a:spLocks noGrp="1"/>
          </p:cNvSpPr>
          <p:nvPr>
            <p:ph type="body" idx="1"/>
          </p:nvPr>
        </p:nvSpPr>
        <p:spPr>
          <a:xfrm>
            <a:off x="415225" y="624400"/>
            <a:ext cx="80412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sz="20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lang="en" sz="2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Initial Issues</a:t>
            </a: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○"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Older TensorFlow versions gave errors; switched to 2.16.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○"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Saving the models in tensorflow </a:t>
            </a:r>
            <a:r>
              <a:rPr lang="en" sz="2000">
                <a:solidFill>
                  <a:srgbClr val="20212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SavedModel format.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○"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Managing storage for segmented datasets.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lang="en" sz="2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Biased Results</a:t>
            </a: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○"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Challenges with app testing data (biased towards "Good").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○"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Resolution: Included segmented group fish images for better generalization.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Internet connectivity issues causing training interruptions.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0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grpSp>
        <p:nvGrpSpPr>
          <p:cNvPr id="215" name="Google Shape;215;p30"/>
          <p:cNvGrpSpPr/>
          <p:nvPr/>
        </p:nvGrpSpPr>
        <p:grpSpPr>
          <a:xfrm>
            <a:off x="431925" y="1304875"/>
            <a:ext cx="2628925" cy="3416400"/>
            <a:chOff x="431925" y="1304875"/>
            <a:chExt cx="2628925" cy="3416400"/>
          </a:xfrm>
        </p:grpSpPr>
        <p:sp>
          <p:nvSpPr>
            <p:cNvPr id="216" name="Google Shape;216;p30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30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8" name="Google Shape;218;p30"/>
          <p:cNvSpPr txBox="1">
            <a:spLocks noGrp="1"/>
          </p:cNvSpPr>
          <p:nvPr>
            <p:ph type="body" idx="4294967295"/>
          </p:nvPr>
        </p:nvSpPr>
        <p:spPr>
          <a:xfrm>
            <a:off x="506425" y="1304875"/>
            <a:ext cx="24945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Model Performance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9" name="Google Shape;219;p30"/>
          <p:cNvSpPr txBox="1">
            <a:spLocks noGrp="1"/>
          </p:cNvSpPr>
          <p:nvPr>
            <p:ph type="body" idx="4294967295"/>
          </p:nvPr>
        </p:nvSpPr>
        <p:spPr>
          <a:xfrm>
            <a:off x="508325" y="1850300"/>
            <a:ext cx="2478600" cy="30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- DenseNet121 outperformed others, achieving </a:t>
            </a:r>
            <a:r>
              <a:rPr lang="en" sz="1600" b="1">
                <a:solidFill>
                  <a:srgbClr val="000000"/>
                </a:solidFill>
              </a:rPr>
              <a:t>83% testing accuracy</a:t>
            </a:r>
            <a:r>
              <a:rPr lang="en" sz="1600">
                <a:solidFill>
                  <a:srgbClr val="000000"/>
                </a:solidFill>
              </a:rPr>
              <a:t> and </a:t>
            </a:r>
            <a:r>
              <a:rPr lang="en" sz="1600" b="1">
                <a:solidFill>
                  <a:srgbClr val="000000"/>
                </a:solidFill>
              </a:rPr>
              <a:t>82% app testing accuracy</a:t>
            </a:r>
            <a:r>
              <a:rPr lang="en" sz="1600">
                <a:solidFill>
                  <a:srgbClr val="000000"/>
                </a:solidFill>
              </a:rPr>
              <a:t>. </a:t>
            </a:r>
            <a:endParaRPr sz="16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 b="1">
                <a:solidFill>
                  <a:srgbClr val="000000"/>
                </a:solidFill>
              </a:rPr>
              <a:t>- Fine-tuning</a:t>
            </a:r>
            <a:r>
              <a:rPr lang="en" sz="1600">
                <a:solidFill>
                  <a:srgbClr val="000000"/>
                </a:solidFill>
              </a:rPr>
              <a:t> this model significantly enhanced its performance for our specific dataset.</a:t>
            </a:r>
            <a:endParaRPr sz="1600"/>
          </a:p>
        </p:txBody>
      </p:sp>
      <p:grpSp>
        <p:nvGrpSpPr>
          <p:cNvPr id="220" name="Google Shape;220;p30"/>
          <p:cNvGrpSpPr/>
          <p:nvPr/>
        </p:nvGrpSpPr>
        <p:grpSpPr>
          <a:xfrm>
            <a:off x="3320450" y="1304875"/>
            <a:ext cx="2632500" cy="3416400"/>
            <a:chOff x="3320450" y="1304875"/>
            <a:chExt cx="2632500" cy="3416400"/>
          </a:xfrm>
        </p:grpSpPr>
        <p:sp>
          <p:nvSpPr>
            <p:cNvPr id="221" name="Google Shape;221;p30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30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3" name="Google Shape;223;p30"/>
          <p:cNvSpPr txBox="1">
            <a:spLocks noGrp="1"/>
          </p:cNvSpPr>
          <p:nvPr>
            <p:ph type="body" idx="4294967295"/>
          </p:nvPr>
        </p:nvSpPr>
        <p:spPr>
          <a:xfrm>
            <a:off x="3389450" y="1304875"/>
            <a:ext cx="24945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Batch Normalization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4" name="Google Shape;224;p30"/>
          <p:cNvSpPr txBox="1">
            <a:spLocks noGrp="1"/>
          </p:cNvSpPr>
          <p:nvPr>
            <p:ph type="body" idx="4294967295"/>
          </p:nvPr>
        </p:nvSpPr>
        <p:spPr>
          <a:xfrm>
            <a:off x="3396775" y="1850300"/>
            <a:ext cx="2478600" cy="27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This technique accelerated training and enhanced accuracy, proving essential in our deep learning approach.</a:t>
            </a:r>
            <a:endParaRPr sz="1600"/>
          </a:p>
        </p:txBody>
      </p:sp>
      <p:grpSp>
        <p:nvGrpSpPr>
          <p:cNvPr id="225" name="Google Shape;225;p30"/>
          <p:cNvGrpSpPr/>
          <p:nvPr/>
        </p:nvGrpSpPr>
        <p:grpSpPr>
          <a:xfrm>
            <a:off x="6212550" y="1304875"/>
            <a:ext cx="2632500" cy="3416400"/>
            <a:chOff x="6212550" y="1304875"/>
            <a:chExt cx="2632500" cy="3416400"/>
          </a:xfrm>
        </p:grpSpPr>
        <p:sp>
          <p:nvSpPr>
            <p:cNvPr id="226" name="Google Shape;226;p30"/>
            <p:cNvSpPr/>
            <p:nvPr/>
          </p:nvSpPr>
          <p:spPr>
            <a:xfrm>
              <a:off x="6215400" y="1304875"/>
              <a:ext cx="2628900" cy="34164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0"/>
            <p:cNvSpPr txBox="1"/>
            <p:nvPr/>
          </p:nvSpPr>
          <p:spPr>
            <a:xfrm>
              <a:off x="6212550" y="1304875"/>
              <a:ext cx="26325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8" name="Google Shape;228;p30"/>
          <p:cNvSpPr txBox="1">
            <a:spLocks noGrp="1"/>
          </p:cNvSpPr>
          <p:nvPr>
            <p:ph type="body" idx="4294967295"/>
          </p:nvPr>
        </p:nvSpPr>
        <p:spPr>
          <a:xfrm>
            <a:off x="6272475" y="1304875"/>
            <a:ext cx="24945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Regularization Impact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9" name="Google Shape;229;p30"/>
          <p:cNvSpPr txBox="1">
            <a:spLocks noGrp="1"/>
          </p:cNvSpPr>
          <p:nvPr>
            <p:ph type="body" idx="4294967295"/>
          </p:nvPr>
        </p:nvSpPr>
        <p:spPr>
          <a:xfrm>
            <a:off x="6286400" y="1850300"/>
            <a:ext cx="2478600" cy="27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The inclusion of L2 regularization, especially at output layer, and dropout layers significantly improved performance by reducing overfitting.</a:t>
            </a:r>
            <a:endParaRPr sz="1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1"/>
          <p:cNvSpPr txBox="1">
            <a:spLocks noGrp="1"/>
          </p:cNvSpPr>
          <p:nvPr>
            <p:ph type="title"/>
          </p:nvPr>
        </p:nvSpPr>
        <p:spPr>
          <a:xfrm>
            <a:off x="265500" y="1912650"/>
            <a:ext cx="4045200" cy="13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  <p:sp>
        <p:nvSpPr>
          <p:cNvPr id="235" name="Google Shape;235;p31"/>
          <p:cNvSpPr txBox="1">
            <a:spLocks noGrp="1"/>
          </p:cNvSpPr>
          <p:nvPr>
            <p:ph type="body" idx="2"/>
          </p:nvPr>
        </p:nvSpPr>
        <p:spPr>
          <a:xfrm>
            <a:off x="4918800" y="55855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Explore various machine learning models to further improve accuracy.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Use the best-performing model as a feature extractor.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Implement PCA and LDA for dimensionality reduction on a larger dataset.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Aim to enhance model robustness through iterative testing and adjustments.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1049</Words>
  <Application>Microsoft Office PowerPoint</Application>
  <PresentationFormat>On-screen Show (16:9)</PresentationFormat>
  <Paragraphs>192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Roboto Light</vt:lpstr>
      <vt:lpstr>Arial</vt:lpstr>
      <vt:lpstr>Trebuchet MS</vt:lpstr>
      <vt:lpstr>Roboto</vt:lpstr>
      <vt:lpstr>Geometric</vt:lpstr>
      <vt:lpstr>Fish Quality Classification Project</vt:lpstr>
      <vt:lpstr>Project  Overview</vt:lpstr>
      <vt:lpstr>Data Collection and Preparation</vt:lpstr>
      <vt:lpstr>Data Distribution</vt:lpstr>
      <vt:lpstr>Hyperparameter Tuning</vt:lpstr>
      <vt:lpstr>Experiment 1: Initial Model Training </vt:lpstr>
      <vt:lpstr>Experiment 2: Adding Regularization and More Layers</vt:lpstr>
      <vt:lpstr>Experiment 3: Increased neurons</vt:lpstr>
      <vt:lpstr>Experiment 4: Batch Normalization and additional fine-tuning</vt:lpstr>
      <vt:lpstr>Experiment 4: Batch Normalization and additional fine-tuning</vt:lpstr>
      <vt:lpstr>Experiment 5: Exploring Other Base Models </vt:lpstr>
      <vt:lpstr>Results Summary</vt:lpstr>
      <vt:lpstr>Current Best Performing Model Architecture</vt:lpstr>
      <vt:lpstr>Confusion Matrices Analysis</vt:lpstr>
      <vt:lpstr>Training Accuracy Loss Plots of fine-tuning</vt:lpstr>
      <vt:lpstr>Challenges Faced</vt:lpstr>
      <vt:lpstr>Conclusion</vt:lpstr>
      <vt:lpstr>Future Work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sowmya maddala</cp:lastModifiedBy>
  <cp:revision>1</cp:revision>
  <dcterms:modified xsi:type="dcterms:W3CDTF">2025-12-03T02:04:59Z</dcterms:modified>
</cp:coreProperties>
</file>