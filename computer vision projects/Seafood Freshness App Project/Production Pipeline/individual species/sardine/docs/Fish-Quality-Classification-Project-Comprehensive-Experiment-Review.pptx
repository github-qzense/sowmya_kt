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Petrona"/>
      <p:regular r:id="rId17"/>
    </p:embeddedFont>
    <p:embeddedFont>
      <p:font typeface="Petrona"/>
      <p:regular r:id="rId18"/>
    </p:embeddedFont>
    <p:embeddedFont>
      <p:font typeface="Petrona"/>
      <p:regular r:id="rId19"/>
    </p:embeddedFont>
    <p:embeddedFont>
      <p:font typeface="Petrona"/>
      <p:regular r:id="rId20"/>
    </p:embeddedFont>
    <p:embeddedFont>
      <p:font typeface="Inter"/>
      <p:regular r:id="rId21"/>
    </p:embeddedFont>
    <p:embeddedFont>
      <p:font typeface="Inter"/>
      <p:regular r:id="rId22"/>
    </p:embeddedFont>
    <p:embeddedFont>
      <p:font typeface="Inter"/>
      <p:regular r:id="rId23"/>
    </p:embeddedFont>
    <p:embeddedFont>
      <p:font typeface="Inter"/>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955715"/>
            <a:ext cx="13042821" cy="2054066"/>
          </a:xfrm>
          <a:prstGeom prst="rect">
            <a:avLst/>
          </a:prstGeom>
          <a:noFill/>
          <a:ln/>
        </p:spPr>
        <p:txBody>
          <a:bodyPr wrap="square" lIns="0" tIns="0" rIns="0" bIns="0" rtlCol="0" anchor="t"/>
          <a:lstStyle/>
          <a:p>
            <a:pPr indent="0" marL="0">
              <a:lnSpc>
                <a:spcPts val="8050"/>
              </a:lnSpc>
              <a:buNone/>
            </a:pPr>
            <a:r>
              <a:rPr lang="en-US" sz="6450" b="1" spc="-129" kern="0" dirty="0">
                <a:solidFill>
                  <a:srgbClr val="FF8AAF"/>
                </a:solidFill>
                <a:latin typeface="Petrona Bold" pitchFamily="34" charset="0"/>
                <a:ea typeface="Petrona Bold" pitchFamily="34" charset="-122"/>
                <a:cs typeface="Petrona Bold" pitchFamily="34" charset="-120"/>
              </a:rPr>
              <a:t>Fish Quality Classification Project: Comprehensive Experiment Review</a:t>
            </a:r>
            <a:endParaRPr lang="en-US" sz="6450" dirty="0"/>
          </a:p>
        </p:txBody>
      </p:sp>
      <p:sp>
        <p:nvSpPr>
          <p:cNvPr id="3" name="Text 1"/>
          <p:cNvSpPr/>
          <p:nvPr/>
        </p:nvSpPr>
        <p:spPr>
          <a:xfrm>
            <a:off x="793790" y="3463409"/>
            <a:ext cx="13042821" cy="1451610"/>
          </a:xfrm>
          <a:prstGeom prst="rect">
            <a:avLst/>
          </a:prstGeom>
          <a:noFill/>
          <a:ln/>
        </p:spPr>
        <p:txBody>
          <a:bodyPr wrap="square" lIns="0" tIns="0" rIns="0" bIns="0" rtlCol="0" anchor="t"/>
          <a:lstStyle/>
          <a:p>
            <a:pPr indent="0" marL="0">
              <a:lnSpc>
                <a:spcPts val="2850"/>
              </a:lnSpc>
              <a:buNone/>
            </a:pPr>
            <a:r>
              <a:rPr lang="en-US" sz="1750" spc="-36" kern="0" dirty="0">
                <a:solidFill>
                  <a:srgbClr val="E0D6DE"/>
                </a:solidFill>
                <a:latin typeface="Inter" pitchFamily="34" charset="0"/>
                <a:ea typeface="Inter" pitchFamily="34" charset="-122"/>
                <a:cs typeface="Inter" pitchFamily="34" charset="-120"/>
              </a:rPr>
              <a:t>Welcome to our detailed review of the Fish Quality Classification Project, an innovative initiative aimed at leveraging machine learning to categorize fish images based on quality. This project, spearheaded by Sowmya Maddala, focuses on classifying sardine images into "Good" or "Bad" categories, with the ultimate goal of enhancing model performance for app testing in the seafood industry.</a:t>
            </a:r>
            <a:endParaRPr lang="en-US" sz="1750" dirty="0"/>
          </a:p>
        </p:txBody>
      </p:sp>
      <p:sp>
        <p:nvSpPr>
          <p:cNvPr id="4" name="Text 2"/>
          <p:cNvSpPr/>
          <p:nvPr/>
        </p:nvSpPr>
        <p:spPr>
          <a:xfrm>
            <a:off x="793790" y="5170170"/>
            <a:ext cx="13042821" cy="1451610"/>
          </a:xfrm>
          <a:prstGeom prst="rect">
            <a:avLst/>
          </a:prstGeom>
          <a:noFill/>
          <a:ln/>
        </p:spPr>
        <p:txBody>
          <a:bodyPr wrap="square" lIns="0" tIns="0" rIns="0" bIns="0" rtlCol="0" anchor="t"/>
          <a:lstStyle/>
          <a:p>
            <a:pPr indent="0" marL="0">
              <a:lnSpc>
                <a:spcPts val="2850"/>
              </a:lnSpc>
              <a:buNone/>
            </a:pPr>
            <a:r>
              <a:rPr lang="en-US" sz="1750" spc="-36" kern="0" dirty="0">
                <a:solidFill>
                  <a:srgbClr val="E0D6DE"/>
                </a:solidFill>
                <a:latin typeface="Inter" pitchFamily="34" charset="0"/>
                <a:ea typeface="Inter" pitchFamily="34" charset="-122"/>
                <a:cs typeface="Inter" pitchFamily="34" charset="-120"/>
              </a:rPr>
              <a:t>Throughout this presentation, we'll dive deep into the various experiments conducted, exploring data collection methods, model architectures, and the iterative process of improving classification accuracy. From initial model training to advanced techniques like batch normalization and fine-tuning, we'll uncover the challenges faced and insights gained in this cutting-edge application of computer vision to fish quality assessment.</a:t>
            </a:r>
            <a:endParaRPr lang="en-US" sz="1750" dirty="0"/>
          </a:p>
        </p:txBody>
      </p:sp>
      <p:sp>
        <p:nvSpPr>
          <p:cNvPr id="5" name="Shape 3"/>
          <p:cNvSpPr/>
          <p:nvPr/>
        </p:nvSpPr>
        <p:spPr>
          <a:xfrm>
            <a:off x="793790" y="6893838"/>
            <a:ext cx="362903" cy="362903"/>
          </a:xfrm>
          <a:prstGeom prst="roundRect">
            <a:avLst>
              <a:gd name="adj" fmla="val 25194296"/>
            </a:avLst>
          </a:prstGeom>
          <a:noFill/>
          <a:ln w="762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1410" y="6901458"/>
            <a:ext cx="347663" cy="347663"/>
          </a:xfrm>
          <a:prstGeom prst="rect">
            <a:avLst/>
          </a:prstGeom>
        </p:spPr>
      </p:pic>
      <p:sp>
        <p:nvSpPr>
          <p:cNvPr id="7" name="Text 4"/>
          <p:cNvSpPr/>
          <p:nvPr/>
        </p:nvSpPr>
        <p:spPr>
          <a:xfrm>
            <a:off x="1270040" y="6876931"/>
            <a:ext cx="6217682" cy="396835"/>
          </a:xfrm>
          <a:prstGeom prst="rect">
            <a:avLst/>
          </a:prstGeom>
          <a:noFill/>
          <a:ln/>
        </p:spPr>
        <p:txBody>
          <a:bodyPr wrap="none" lIns="0" tIns="0" rIns="0" bIns="0" rtlCol="0" anchor="t"/>
          <a:lstStyle/>
          <a:p>
            <a:pPr algn="l" indent="0" marL="0">
              <a:lnSpc>
                <a:spcPts val="3100"/>
              </a:lnSpc>
              <a:buNone/>
            </a:pPr>
            <a:r>
              <a:rPr lang="en-US" sz="2200" b="1" spc="-36" kern="0" dirty="0">
                <a:solidFill>
                  <a:srgbClr val="E0D6DE"/>
                </a:solidFill>
                <a:latin typeface="Inter Bold" pitchFamily="34" charset="0"/>
                <a:ea typeface="Inter Bold" pitchFamily="34" charset="-122"/>
                <a:cs typeface="Inter Bold" pitchFamily="34" charset="-120"/>
              </a:rPr>
              <a:t>by MADDALA SOWMYA GOWRI SRI (S160406)</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6974" y="437555"/>
            <a:ext cx="5881211" cy="522208"/>
          </a:xfrm>
          <a:prstGeom prst="rect">
            <a:avLst/>
          </a:prstGeom>
          <a:noFill/>
          <a:ln/>
        </p:spPr>
        <p:txBody>
          <a:bodyPr wrap="none" lIns="0" tIns="0" rIns="0" bIns="0" rtlCol="0" anchor="t"/>
          <a:lstStyle/>
          <a:p>
            <a:pPr indent="0" marL="0">
              <a:lnSpc>
                <a:spcPts val="4100"/>
              </a:lnSpc>
              <a:buNone/>
            </a:pPr>
            <a:r>
              <a:rPr lang="en-US" sz="3250" b="1" spc="-66" kern="0" dirty="0">
                <a:solidFill>
                  <a:srgbClr val="FF8AAF"/>
                </a:solidFill>
                <a:latin typeface="Petrona Bold" pitchFamily="34" charset="0"/>
                <a:ea typeface="Petrona Bold" pitchFamily="34" charset="-122"/>
                <a:cs typeface="Petrona Bold" pitchFamily="34" charset="-120"/>
              </a:rPr>
              <a:t>Project Overview and Objectives</a:t>
            </a:r>
            <a:endParaRPr lang="en-US" sz="3250" dirty="0"/>
          </a:p>
        </p:txBody>
      </p:sp>
      <p:sp>
        <p:nvSpPr>
          <p:cNvPr id="3" name="Text 1"/>
          <p:cNvSpPr/>
          <p:nvPr/>
        </p:nvSpPr>
        <p:spPr>
          <a:xfrm>
            <a:off x="556974" y="1278017"/>
            <a:ext cx="13516451" cy="764024"/>
          </a:xfrm>
          <a:prstGeom prst="rect">
            <a:avLst/>
          </a:prstGeom>
          <a:noFill/>
          <a:ln/>
        </p:spPr>
        <p:txBody>
          <a:bodyPr wrap="square" lIns="0" tIns="0" rIns="0" bIns="0" rtlCol="0" anchor="t"/>
          <a:lstStyle/>
          <a:p>
            <a:pPr indent="0" marL="0">
              <a:lnSpc>
                <a:spcPts val="2000"/>
              </a:lnSpc>
              <a:buNone/>
            </a:pPr>
            <a:r>
              <a:rPr lang="en-US" sz="1250" spc="-25" kern="0" dirty="0">
                <a:solidFill>
                  <a:srgbClr val="E0D6DE"/>
                </a:solidFill>
                <a:latin typeface="Inter" pitchFamily="34" charset="0"/>
                <a:ea typeface="Inter" pitchFamily="34" charset="-122"/>
                <a:cs typeface="Inter" pitchFamily="34" charset="-120"/>
              </a:rPr>
              <a:t>The Fish Quality Classification Project aims to develop a robust machine learning model capable of accurately distinguishing between high-quality and subpar sardines. This initiative is driven by the need for efficient, automated quality control processes in the seafood industry, where rapid and accurate assessment is crucial for maintaining product standards and reducing waste.</a:t>
            </a:r>
            <a:endParaRPr lang="en-US" sz="1250" dirty="0"/>
          </a:p>
        </p:txBody>
      </p:sp>
      <p:sp>
        <p:nvSpPr>
          <p:cNvPr id="4" name="Text 2"/>
          <p:cNvSpPr/>
          <p:nvPr/>
        </p:nvSpPr>
        <p:spPr>
          <a:xfrm>
            <a:off x="556974" y="2220992"/>
            <a:ext cx="13516451" cy="509349"/>
          </a:xfrm>
          <a:prstGeom prst="rect">
            <a:avLst/>
          </a:prstGeom>
          <a:noFill/>
          <a:ln/>
        </p:spPr>
        <p:txBody>
          <a:bodyPr wrap="square" lIns="0" tIns="0" rIns="0" bIns="0" rtlCol="0" anchor="t"/>
          <a:lstStyle/>
          <a:p>
            <a:pPr indent="0" marL="0">
              <a:lnSpc>
                <a:spcPts val="2000"/>
              </a:lnSpc>
              <a:buNone/>
            </a:pPr>
            <a:r>
              <a:rPr lang="en-US" sz="1250" spc="-25" kern="0" dirty="0">
                <a:solidFill>
                  <a:srgbClr val="E0D6DE"/>
                </a:solidFill>
                <a:latin typeface="Inter" pitchFamily="34" charset="0"/>
                <a:ea typeface="Inter" pitchFamily="34" charset="-122"/>
                <a:cs typeface="Inter" pitchFamily="34" charset="-120"/>
              </a:rPr>
              <a:t>Our primary objective is to classify sardine images into "Good" or "Bad" categories based on visual quality indicators. This binary classification task presents unique challenges, including the subtle differences between quality levels and the need for a model that can generalize well across various lighting conditions and image angles.</a:t>
            </a:r>
            <a:endParaRPr lang="en-US" sz="1250" dirty="0"/>
          </a:p>
        </p:txBody>
      </p:sp>
      <p:sp>
        <p:nvSpPr>
          <p:cNvPr id="5" name="Text 3"/>
          <p:cNvSpPr/>
          <p:nvPr/>
        </p:nvSpPr>
        <p:spPr>
          <a:xfrm>
            <a:off x="556974" y="2909292"/>
            <a:ext cx="13516451" cy="509349"/>
          </a:xfrm>
          <a:prstGeom prst="rect">
            <a:avLst/>
          </a:prstGeom>
          <a:noFill/>
          <a:ln/>
        </p:spPr>
        <p:txBody>
          <a:bodyPr wrap="square" lIns="0" tIns="0" rIns="0" bIns="0" rtlCol="0" anchor="t"/>
          <a:lstStyle/>
          <a:p>
            <a:pPr indent="0" marL="0">
              <a:lnSpc>
                <a:spcPts val="2000"/>
              </a:lnSpc>
              <a:buNone/>
            </a:pPr>
            <a:r>
              <a:rPr lang="en-US" sz="1250" spc="-25" kern="0" dirty="0">
                <a:solidFill>
                  <a:srgbClr val="E0D6DE"/>
                </a:solidFill>
                <a:latin typeface="Inter" pitchFamily="34" charset="0"/>
                <a:ea typeface="Inter" pitchFamily="34" charset="-122"/>
                <a:cs typeface="Inter" pitchFamily="34" charset="-120"/>
              </a:rPr>
              <a:t>By focusing on sardines, a popular and economically significant species, we aim to create a model that can be potentially adapted for other fish types in the future. The project's success will contribute significantly to app testing procedures, enabling more accurate and consistent quality assessments in real-world applications.</a:t>
            </a:r>
            <a:endParaRPr lang="en-US" sz="1250" dirty="0"/>
          </a:p>
        </p:txBody>
      </p:sp>
      <p:sp>
        <p:nvSpPr>
          <p:cNvPr id="6" name="Shape 4"/>
          <p:cNvSpPr/>
          <p:nvPr/>
        </p:nvSpPr>
        <p:spPr>
          <a:xfrm>
            <a:off x="784265" y="3597593"/>
            <a:ext cx="22860" cy="4194334"/>
          </a:xfrm>
          <a:prstGeom prst="roundRect">
            <a:avLst>
              <a:gd name="adj" fmla="val 292399"/>
            </a:avLst>
          </a:prstGeom>
          <a:solidFill>
            <a:srgbClr val="48367C"/>
          </a:solidFill>
          <a:ln/>
        </p:spPr>
      </p:sp>
      <p:sp>
        <p:nvSpPr>
          <p:cNvPr id="7" name="Shape 5"/>
          <p:cNvSpPr/>
          <p:nvPr/>
        </p:nvSpPr>
        <p:spPr>
          <a:xfrm>
            <a:off x="951845" y="3944064"/>
            <a:ext cx="556974" cy="22860"/>
          </a:xfrm>
          <a:prstGeom prst="roundRect">
            <a:avLst>
              <a:gd name="adj" fmla="val 292399"/>
            </a:avLst>
          </a:prstGeom>
          <a:solidFill>
            <a:srgbClr val="48367C"/>
          </a:solidFill>
          <a:ln/>
        </p:spPr>
      </p:sp>
      <p:sp>
        <p:nvSpPr>
          <p:cNvPr id="8" name="Shape 6"/>
          <p:cNvSpPr/>
          <p:nvPr/>
        </p:nvSpPr>
        <p:spPr>
          <a:xfrm>
            <a:off x="616684" y="3776543"/>
            <a:ext cx="358021" cy="358021"/>
          </a:xfrm>
          <a:prstGeom prst="roundRect">
            <a:avLst>
              <a:gd name="adj" fmla="val 18670"/>
            </a:avLst>
          </a:prstGeom>
          <a:solidFill>
            <a:srgbClr val="2F1D63"/>
          </a:solidFill>
          <a:ln w="7620">
            <a:solidFill>
              <a:srgbClr val="48367C"/>
            </a:solidFill>
            <a:prstDash val="solid"/>
          </a:ln>
        </p:spPr>
      </p:sp>
      <p:sp>
        <p:nvSpPr>
          <p:cNvPr id="9" name="Text 7"/>
          <p:cNvSpPr/>
          <p:nvPr/>
        </p:nvSpPr>
        <p:spPr>
          <a:xfrm>
            <a:off x="744557" y="3830241"/>
            <a:ext cx="102275" cy="250627"/>
          </a:xfrm>
          <a:prstGeom prst="rect">
            <a:avLst/>
          </a:prstGeom>
          <a:noFill/>
          <a:ln/>
        </p:spPr>
        <p:txBody>
          <a:bodyPr wrap="none" lIns="0" tIns="0" rIns="0" bIns="0" rtlCol="0" anchor="t"/>
          <a:lstStyle/>
          <a:p>
            <a:pPr algn="ctr" indent="0" marL="0">
              <a:lnSpc>
                <a:spcPts val="1950"/>
              </a:lnSpc>
              <a:buNone/>
            </a:pPr>
            <a:r>
              <a:rPr lang="en-US" sz="1950" b="1" spc="-39" kern="0" dirty="0">
                <a:solidFill>
                  <a:srgbClr val="E0D6DE"/>
                </a:solidFill>
                <a:latin typeface="Petrona Bold" pitchFamily="34" charset="0"/>
                <a:ea typeface="Petrona Bold" pitchFamily="34" charset="-122"/>
                <a:cs typeface="Petrona Bold" pitchFamily="34" charset="-120"/>
              </a:rPr>
              <a:t>1</a:t>
            </a:r>
            <a:endParaRPr lang="en-US" sz="1950" dirty="0"/>
          </a:p>
        </p:txBody>
      </p:sp>
      <p:sp>
        <p:nvSpPr>
          <p:cNvPr id="10" name="Text 8"/>
          <p:cNvSpPr/>
          <p:nvPr/>
        </p:nvSpPr>
        <p:spPr>
          <a:xfrm>
            <a:off x="1670923" y="3756660"/>
            <a:ext cx="2088713" cy="260985"/>
          </a:xfrm>
          <a:prstGeom prst="rect">
            <a:avLst/>
          </a:prstGeom>
          <a:noFill/>
          <a:ln/>
        </p:spPr>
        <p:txBody>
          <a:bodyPr wrap="none" lIns="0" tIns="0" rIns="0" bIns="0" rtlCol="0" anchor="t"/>
          <a:lstStyle/>
          <a:p>
            <a:pPr algn="l" indent="0" marL="0">
              <a:lnSpc>
                <a:spcPts val="2050"/>
              </a:lnSpc>
              <a:buNone/>
            </a:pPr>
            <a:r>
              <a:rPr lang="en-US" sz="1600" b="1" spc="-33" kern="0" dirty="0">
                <a:solidFill>
                  <a:srgbClr val="E0D6DE"/>
                </a:solidFill>
                <a:latin typeface="Petrona Bold" pitchFamily="34" charset="0"/>
                <a:ea typeface="Petrona Bold" pitchFamily="34" charset="-122"/>
                <a:cs typeface="Petrona Bold" pitchFamily="34" charset="-120"/>
              </a:rPr>
              <a:t>Project Initiation</a:t>
            </a:r>
            <a:endParaRPr lang="en-US" sz="1600" dirty="0"/>
          </a:p>
        </p:txBody>
      </p:sp>
      <p:sp>
        <p:nvSpPr>
          <p:cNvPr id="11" name="Text 9"/>
          <p:cNvSpPr/>
          <p:nvPr/>
        </p:nvSpPr>
        <p:spPr>
          <a:xfrm>
            <a:off x="1670923" y="4113133"/>
            <a:ext cx="12402503" cy="254675"/>
          </a:xfrm>
          <a:prstGeom prst="rect">
            <a:avLst/>
          </a:prstGeom>
          <a:noFill/>
          <a:ln/>
        </p:spPr>
        <p:txBody>
          <a:bodyPr wrap="none" lIns="0" tIns="0" rIns="0" bIns="0" rtlCol="0" anchor="t"/>
          <a:lstStyle/>
          <a:p>
            <a:pPr algn="l" indent="0" marL="0">
              <a:lnSpc>
                <a:spcPts val="2000"/>
              </a:lnSpc>
              <a:buNone/>
            </a:pPr>
            <a:r>
              <a:rPr lang="en-US" sz="1250" spc="-25" kern="0" dirty="0">
                <a:solidFill>
                  <a:srgbClr val="E0D6DE"/>
                </a:solidFill>
                <a:latin typeface="Inter" pitchFamily="34" charset="0"/>
                <a:ea typeface="Inter" pitchFamily="34" charset="-122"/>
                <a:cs typeface="Inter" pitchFamily="34" charset="-120"/>
              </a:rPr>
              <a:t>Define objectives and scope, focusing on sardine classification</a:t>
            </a:r>
            <a:endParaRPr lang="en-US" sz="1250" dirty="0"/>
          </a:p>
        </p:txBody>
      </p:sp>
      <p:sp>
        <p:nvSpPr>
          <p:cNvPr id="12" name="Shape 10"/>
          <p:cNvSpPr/>
          <p:nvPr/>
        </p:nvSpPr>
        <p:spPr>
          <a:xfrm>
            <a:off x="951845" y="5032415"/>
            <a:ext cx="556974" cy="22860"/>
          </a:xfrm>
          <a:prstGeom prst="roundRect">
            <a:avLst>
              <a:gd name="adj" fmla="val 292399"/>
            </a:avLst>
          </a:prstGeom>
          <a:solidFill>
            <a:srgbClr val="48367C"/>
          </a:solidFill>
          <a:ln/>
        </p:spPr>
      </p:sp>
      <p:sp>
        <p:nvSpPr>
          <p:cNvPr id="13" name="Shape 11"/>
          <p:cNvSpPr/>
          <p:nvPr/>
        </p:nvSpPr>
        <p:spPr>
          <a:xfrm>
            <a:off x="616684" y="4864894"/>
            <a:ext cx="358021" cy="358021"/>
          </a:xfrm>
          <a:prstGeom prst="roundRect">
            <a:avLst>
              <a:gd name="adj" fmla="val 18670"/>
            </a:avLst>
          </a:prstGeom>
          <a:solidFill>
            <a:srgbClr val="2F1D63"/>
          </a:solidFill>
          <a:ln w="7620">
            <a:solidFill>
              <a:srgbClr val="48367C"/>
            </a:solidFill>
            <a:prstDash val="solid"/>
          </a:ln>
        </p:spPr>
      </p:sp>
      <p:sp>
        <p:nvSpPr>
          <p:cNvPr id="14" name="Text 12"/>
          <p:cNvSpPr/>
          <p:nvPr/>
        </p:nvSpPr>
        <p:spPr>
          <a:xfrm>
            <a:off x="727174" y="4918591"/>
            <a:ext cx="137041" cy="250627"/>
          </a:xfrm>
          <a:prstGeom prst="rect">
            <a:avLst/>
          </a:prstGeom>
          <a:noFill/>
          <a:ln/>
        </p:spPr>
        <p:txBody>
          <a:bodyPr wrap="none" lIns="0" tIns="0" rIns="0" bIns="0" rtlCol="0" anchor="t"/>
          <a:lstStyle/>
          <a:p>
            <a:pPr algn="ctr" indent="0" marL="0">
              <a:lnSpc>
                <a:spcPts val="1950"/>
              </a:lnSpc>
              <a:buNone/>
            </a:pPr>
            <a:r>
              <a:rPr lang="en-US" sz="1950" b="1" spc="-39" kern="0" dirty="0">
                <a:solidFill>
                  <a:srgbClr val="E0D6DE"/>
                </a:solidFill>
                <a:latin typeface="Petrona Bold" pitchFamily="34" charset="0"/>
                <a:ea typeface="Petrona Bold" pitchFamily="34" charset="-122"/>
                <a:cs typeface="Petrona Bold" pitchFamily="34" charset="-120"/>
              </a:rPr>
              <a:t>2</a:t>
            </a:r>
            <a:endParaRPr lang="en-US" sz="1950" dirty="0"/>
          </a:p>
        </p:txBody>
      </p:sp>
      <p:sp>
        <p:nvSpPr>
          <p:cNvPr id="15" name="Text 13"/>
          <p:cNvSpPr/>
          <p:nvPr/>
        </p:nvSpPr>
        <p:spPr>
          <a:xfrm>
            <a:off x="1670923" y="4845010"/>
            <a:ext cx="2088713" cy="260985"/>
          </a:xfrm>
          <a:prstGeom prst="rect">
            <a:avLst/>
          </a:prstGeom>
          <a:noFill/>
          <a:ln/>
        </p:spPr>
        <p:txBody>
          <a:bodyPr wrap="none" lIns="0" tIns="0" rIns="0" bIns="0" rtlCol="0" anchor="t"/>
          <a:lstStyle/>
          <a:p>
            <a:pPr algn="l" indent="0" marL="0">
              <a:lnSpc>
                <a:spcPts val="2050"/>
              </a:lnSpc>
              <a:buNone/>
            </a:pPr>
            <a:r>
              <a:rPr lang="en-US" sz="1600" b="1" spc="-33" kern="0" dirty="0">
                <a:solidFill>
                  <a:srgbClr val="E0D6DE"/>
                </a:solidFill>
                <a:latin typeface="Petrona Bold" pitchFamily="34" charset="0"/>
                <a:ea typeface="Petrona Bold" pitchFamily="34" charset="-122"/>
                <a:cs typeface="Petrona Bold" pitchFamily="34" charset="-120"/>
              </a:rPr>
              <a:t>Data Collection</a:t>
            </a:r>
            <a:endParaRPr lang="en-US" sz="1600" dirty="0"/>
          </a:p>
        </p:txBody>
      </p:sp>
      <p:sp>
        <p:nvSpPr>
          <p:cNvPr id="16" name="Text 14"/>
          <p:cNvSpPr/>
          <p:nvPr/>
        </p:nvSpPr>
        <p:spPr>
          <a:xfrm>
            <a:off x="1670923" y="5201483"/>
            <a:ext cx="12402503" cy="254675"/>
          </a:xfrm>
          <a:prstGeom prst="rect">
            <a:avLst/>
          </a:prstGeom>
          <a:noFill/>
          <a:ln/>
        </p:spPr>
        <p:txBody>
          <a:bodyPr wrap="none" lIns="0" tIns="0" rIns="0" bIns="0" rtlCol="0" anchor="t"/>
          <a:lstStyle/>
          <a:p>
            <a:pPr algn="l" indent="0" marL="0">
              <a:lnSpc>
                <a:spcPts val="2000"/>
              </a:lnSpc>
              <a:buNone/>
            </a:pPr>
            <a:r>
              <a:rPr lang="en-US" sz="1250" spc="-25" kern="0" dirty="0">
                <a:solidFill>
                  <a:srgbClr val="E0D6DE"/>
                </a:solidFill>
                <a:latin typeface="Inter" pitchFamily="34" charset="0"/>
                <a:ea typeface="Inter" pitchFamily="34" charset="-122"/>
                <a:cs typeface="Inter" pitchFamily="34" charset="-120"/>
              </a:rPr>
              <a:t>Gather and organize sardine images from various sources</a:t>
            </a:r>
            <a:endParaRPr lang="en-US" sz="1250" dirty="0"/>
          </a:p>
        </p:txBody>
      </p:sp>
      <p:sp>
        <p:nvSpPr>
          <p:cNvPr id="17" name="Shape 15"/>
          <p:cNvSpPr/>
          <p:nvPr/>
        </p:nvSpPr>
        <p:spPr>
          <a:xfrm>
            <a:off x="951845" y="6120765"/>
            <a:ext cx="556974" cy="22860"/>
          </a:xfrm>
          <a:prstGeom prst="roundRect">
            <a:avLst>
              <a:gd name="adj" fmla="val 292399"/>
            </a:avLst>
          </a:prstGeom>
          <a:solidFill>
            <a:srgbClr val="48367C"/>
          </a:solidFill>
          <a:ln/>
        </p:spPr>
      </p:sp>
      <p:sp>
        <p:nvSpPr>
          <p:cNvPr id="18" name="Shape 16"/>
          <p:cNvSpPr/>
          <p:nvPr/>
        </p:nvSpPr>
        <p:spPr>
          <a:xfrm>
            <a:off x="616684" y="5953244"/>
            <a:ext cx="358021" cy="358021"/>
          </a:xfrm>
          <a:prstGeom prst="roundRect">
            <a:avLst>
              <a:gd name="adj" fmla="val 18670"/>
            </a:avLst>
          </a:prstGeom>
          <a:solidFill>
            <a:srgbClr val="2F1D63"/>
          </a:solidFill>
          <a:ln w="7620">
            <a:solidFill>
              <a:srgbClr val="48367C"/>
            </a:solidFill>
            <a:prstDash val="solid"/>
          </a:ln>
        </p:spPr>
      </p:sp>
      <p:sp>
        <p:nvSpPr>
          <p:cNvPr id="19" name="Text 17"/>
          <p:cNvSpPr/>
          <p:nvPr/>
        </p:nvSpPr>
        <p:spPr>
          <a:xfrm>
            <a:off x="727293" y="6006941"/>
            <a:ext cx="136803" cy="250627"/>
          </a:xfrm>
          <a:prstGeom prst="rect">
            <a:avLst/>
          </a:prstGeom>
          <a:noFill/>
          <a:ln/>
        </p:spPr>
        <p:txBody>
          <a:bodyPr wrap="none" lIns="0" tIns="0" rIns="0" bIns="0" rtlCol="0" anchor="t"/>
          <a:lstStyle/>
          <a:p>
            <a:pPr algn="ctr" indent="0" marL="0">
              <a:lnSpc>
                <a:spcPts val="1950"/>
              </a:lnSpc>
              <a:buNone/>
            </a:pPr>
            <a:r>
              <a:rPr lang="en-US" sz="1950" b="1" spc="-39" kern="0" dirty="0">
                <a:solidFill>
                  <a:srgbClr val="E0D6DE"/>
                </a:solidFill>
                <a:latin typeface="Petrona Bold" pitchFamily="34" charset="0"/>
                <a:ea typeface="Petrona Bold" pitchFamily="34" charset="-122"/>
                <a:cs typeface="Petrona Bold" pitchFamily="34" charset="-120"/>
              </a:rPr>
              <a:t>3</a:t>
            </a:r>
            <a:endParaRPr lang="en-US" sz="1950" dirty="0"/>
          </a:p>
        </p:txBody>
      </p:sp>
      <p:sp>
        <p:nvSpPr>
          <p:cNvPr id="20" name="Text 18"/>
          <p:cNvSpPr/>
          <p:nvPr/>
        </p:nvSpPr>
        <p:spPr>
          <a:xfrm>
            <a:off x="1670923" y="5933361"/>
            <a:ext cx="2088713" cy="260985"/>
          </a:xfrm>
          <a:prstGeom prst="rect">
            <a:avLst/>
          </a:prstGeom>
          <a:noFill/>
          <a:ln/>
        </p:spPr>
        <p:txBody>
          <a:bodyPr wrap="none" lIns="0" tIns="0" rIns="0" bIns="0" rtlCol="0" anchor="t"/>
          <a:lstStyle/>
          <a:p>
            <a:pPr algn="l" indent="0" marL="0">
              <a:lnSpc>
                <a:spcPts val="2050"/>
              </a:lnSpc>
              <a:buNone/>
            </a:pPr>
            <a:r>
              <a:rPr lang="en-US" sz="1600" b="1" spc="-33" kern="0" dirty="0">
                <a:solidFill>
                  <a:srgbClr val="E0D6DE"/>
                </a:solidFill>
                <a:latin typeface="Petrona Bold" pitchFamily="34" charset="0"/>
                <a:ea typeface="Petrona Bold" pitchFamily="34" charset="-122"/>
                <a:cs typeface="Petrona Bold" pitchFamily="34" charset="-120"/>
              </a:rPr>
              <a:t>Model Development</a:t>
            </a:r>
            <a:endParaRPr lang="en-US" sz="1600" dirty="0"/>
          </a:p>
        </p:txBody>
      </p:sp>
      <p:sp>
        <p:nvSpPr>
          <p:cNvPr id="21" name="Text 19"/>
          <p:cNvSpPr/>
          <p:nvPr/>
        </p:nvSpPr>
        <p:spPr>
          <a:xfrm>
            <a:off x="1670923" y="6289834"/>
            <a:ext cx="12402503" cy="254675"/>
          </a:xfrm>
          <a:prstGeom prst="rect">
            <a:avLst/>
          </a:prstGeom>
          <a:noFill/>
          <a:ln/>
        </p:spPr>
        <p:txBody>
          <a:bodyPr wrap="none" lIns="0" tIns="0" rIns="0" bIns="0" rtlCol="0" anchor="t"/>
          <a:lstStyle/>
          <a:p>
            <a:pPr algn="l" indent="0" marL="0">
              <a:lnSpc>
                <a:spcPts val="2000"/>
              </a:lnSpc>
              <a:buNone/>
            </a:pPr>
            <a:r>
              <a:rPr lang="en-US" sz="1250" spc="-25" kern="0" dirty="0">
                <a:solidFill>
                  <a:srgbClr val="E0D6DE"/>
                </a:solidFill>
                <a:latin typeface="Inter" pitchFamily="34" charset="0"/>
                <a:ea typeface="Inter" pitchFamily="34" charset="-122"/>
                <a:cs typeface="Inter" pitchFamily="34" charset="-120"/>
              </a:rPr>
              <a:t>Iterate through experiments to improve classification accuracy</a:t>
            </a:r>
            <a:endParaRPr lang="en-US" sz="1250" dirty="0"/>
          </a:p>
        </p:txBody>
      </p:sp>
      <p:sp>
        <p:nvSpPr>
          <p:cNvPr id="22" name="Shape 20"/>
          <p:cNvSpPr/>
          <p:nvPr/>
        </p:nvSpPr>
        <p:spPr>
          <a:xfrm>
            <a:off x="951845" y="7209115"/>
            <a:ext cx="556974" cy="22860"/>
          </a:xfrm>
          <a:prstGeom prst="roundRect">
            <a:avLst>
              <a:gd name="adj" fmla="val 292399"/>
            </a:avLst>
          </a:prstGeom>
          <a:solidFill>
            <a:srgbClr val="48367C"/>
          </a:solidFill>
          <a:ln/>
        </p:spPr>
      </p:sp>
      <p:sp>
        <p:nvSpPr>
          <p:cNvPr id="23" name="Shape 21"/>
          <p:cNvSpPr/>
          <p:nvPr/>
        </p:nvSpPr>
        <p:spPr>
          <a:xfrm>
            <a:off x="616684" y="7041594"/>
            <a:ext cx="358021" cy="358021"/>
          </a:xfrm>
          <a:prstGeom prst="roundRect">
            <a:avLst>
              <a:gd name="adj" fmla="val 18670"/>
            </a:avLst>
          </a:prstGeom>
          <a:solidFill>
            <a:srgbClr val="2F1D63"/>
          </a:solidFill>
          <a:ln w="7620">
            <a:solidFill>
              <a:srgbClr val="48367C"/>
            </a:solidFill>
            <a:prstDash val="solid"/>
          </a:ln>
        </p:spPr>
      </p:sp>
      <p:sp>
        <p:nvSpPr>
          <p:cNvPr id="24" name="Text 22"/>
          <p:cNvSpPr/>
          <p:nvPr/>
        </p:nvSpPr>
        <p:spPr>
          <a:xfrm>
            <a:off x="730627" y="7095292"/>
            <a:ext cx="130016" cy="250627"/>
          </a:xfrm>
          <a:prstGeom prst="rect">
            <a:avLst/>
          </a:prstGeom>
          <a:noFill/>
          <a:ln/>
        </p:spPr>
        <p:txBody>
          <a:bodyPr wrap="none" lIns="0" tIns="0" rIns="0" bIns="0" rtlCol="0" anchor="t"/>
          <a:lstStyle/>
          <a:p>
            <a:pPr algn="ctr" indent="0" marL="0">
              <a:lnSpc>
                <a:spcPts val="1950"/>
              </a:lnSpc>
              <a:buNone/>
            </a:pPr>
            <a:r>
              <a:rPr lang="en-US" sz="1950" b="1" spc="-39" kern="0" dirty="0">
                <a:solidFill>
                  <a:srgbClr val="E0D6DE"/>
                </a:solidFill>
                <a:latin typeface="Petrona Bold" pitchFamily="34" charset="0"/>
                <a:ea typeface="Petrona Bold" pitchFamily="34" charset="-122"/>
                <a:cs typeface="Petrona Bold" pitchFamily="34" charset="-120"/>
              </a:rPr>
              <a:t>4</a:t>
            </a:r>
            <a:endParaRPr lang="en-US" sz="1950" dirty="0"/>
          </a:p>
        </p:txBody>
      </p:sp>
      <p:sp>
        <p:nvSpPr>
          <p:cNvPr id="25" name="Text 23"/>
          <p:cNvSpPr/>
          <p:nvPr/>
        </p:nvSpPr>
        <p:spPr>
          <a:xfrm>
            <a:off x="1670923" y="7021711"/>
            <a:ext cx="2088713" cy="260985"/>
          </a:xfrm>
          <a:prstGeom prst="rect">
            <a:avLst/>
          </a:prstGeom>
          <a:noFill/>
          <a:ln/>
        </p:spPr>
        <p:txBody>
          <a:bodyPr wrap="none" lIns="0" tIns="0" rIns="0" bIns="0" rtlCol="0" anchor="t"/>
          <a:lstStyle/>
          <a:p>
            <a:pPr algn="l" indent="0" marL="0">
              <a:lnSpc>
                <a:spcPts val="2050"/>
              </a:lnSpc>
              <a:buNone/>
            </a:pPr>
            <a:r>
              <a:rPr lang="en-US" sz="1600" b="1" spc="-33" kern="0" dirty="0">
                <a:solidFill>
                  <a:srgbClr val="E0D6DE"/>
                </a:solidFill>
                <a:latin typeface="Petrona Bold" pitchFamily="34" charset="0"/>
                <a:ea typeface="Petrona Bold" pitchFamily="34" charset="-122"/>
                <a:cs typeface="Petrona Bold" pitchFamily="34" charset="-120"/>
              </a:rPr>
              <a:t>App Integration</a:t>
            </a:r>
            <a:endParaRPr lang="en-US" sz="1600" dirty="0"/>
          </a:p>
        </p:txBody>
      </p:sp>
      <p:sp>
        <p:nvSpPr>
          <p:cNvPr id="26" name="Text 24"/>
          <p:cNvSpPr/>
          <p:nvPr/>
        </p:nvSpPr>
        <p:spPr>
          <a:xfrm>
            <a:off x="1670923" y="7378184"/>
            <a:ext cx="12402503" cy="254675"/>
          </a:xfrm>
          <a:prstGeom prst="rect">
            <a:avLst/>
          </a:prstGeom>
          <a:noFill/>
          <a:ln/>
        </p:spPr>
        <p:txBody>
          <a:bodyPr wrap="none" lIns="0" tIns="0" rIns="0" bIns="0" rtlCol="0" anchor="t"/>
          <a:lstStyle/>
          <a:p>
            <a:pPr algn="l" indent="0" marL="0">
              <a:lnSpc>
                <a:spcPts val="2000"/>
              </a:lnSpc>
              <a:buNone/>
            </a:pPr>
            <a:r>
              <a:rPr lang="en-US" sz="1250" spc="-25" kern="0" dirty="0">
                <a:solidFill>
                  <a:srgbClr val="E0D6DE"/>
                </a:solidFill>
                <a:latin typeface="Inter" pitchFamily="34" charset="0"/>
                <a:ea typeface="Inter" pitchFamily="34" charset="-122"/>
                <a:cs typeface="Inter" pitchFamily="34" charset="-120"/>
              </a:rPr>
              <a:t>Implement and test the model in real-world application scenarios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29258" y="573167"/>
            <a:ext cx="7735253" cy="683657"/>
          </a:xfrm>
          <a:prstGeom prst="rect">
            <a:avLst/>
          </a:prstGeom>
          <a:noFill/>
          <a:ln/>
        </p:spPr>
        <p:txBody>
          <a:bodyPr wrap="none" lIns="0" tIns="0" rIns="0" bIns="0" rtlCol="0" anchor="t"/>
          <a:lstStyle/>
          <a:p>
            <a:pPr indent="0" marL="0">
              <a:lnSpc>
                <a:spcPts val="5350"/>
              </a:lnSpc>
              <a:buNone/>
            </a:pPr>
            <a:r>
              <a:rPr lang="en-US" sz="4300" b="1" spc="-86" kern="0" dirty="0">
                <a:solidFill>
                  <a:srgbClr val="FF8AAF"/>
                </a:solidFill>
                <a:latin typeface="Petrona Bold" pitchFamily="34" charset="0"/>
                <a:ea typeface="Petrona Bold" pitchFamily="34" charset="-122"/>
                <a:cs typeface="Petrona Bold" pitchFamily="34" charset="-120"/>
              </a:rPr>
              <a:t>Data Collection and Preparation</a:t>
            </a:r>
            <a:endParaRPr lang="en-US" sz="4300" dirty="0"/>
          </a:p>
        </p:txBody>
      </p:sp>
      <p:sp>
        <p:nvSpPr>
          <p:cNvPr id="3" name="Text 1"/>
          <p:cNvSpPr/>
          <p:nvPr/>
        </p:nvSpPr>
        <p:spPr>
          <a:xfrm>
            <a:off x="729258" y="1673543"/>
            <a:ext cx="13171884" cy="1000125"/>
          </a:xfrm>
          <a:prstGeom prst="rect">
            <a:avLst/>
          </a:prstGeom>
          <a:noFill/>
          <a:ln/>
        </p:spPr>
        <p:txBody>
          <a:bodyPr wrap="square" lIns="0" tIns="0" rIns="0" bIns="0" rtlCol="0" anchor="t"/>
          <a:lstStyle/>
          <a:p>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The foundation of our Fish Quality Classification Project lies in comprehensive data collection and meticulous preparation. We sourced our data from two primary channels: daily data collected from S3 storage and manual data collection up to October 8, 2024. This diverse dataset was then uploaded to Kaggle as a private dataset, ensuring data integrity and accessibility for our team.</a:t>
            </a:r>
            <a:endParaRPr lang="en-US" sz="1600" dirty="0"/>
          </a:p>
        </p:txBody>
      </p:sp>
      <p:sp>
        <p:nvSpPr>
          <p:cNvPr id="4" name="Text 2"/>
          <p:cNvSpPr/>
          <p:nvPr/>
        </p:nvSpPr>
        <p:spPr>
          <a:xfrm>
            <a:off x="729258" y="2907983"/>
            <a:ext cx="13171884" cy="1000125"/>
          </a:xfrm>
          <a:prstGeom prst="rect">
            <a:avLst/>
          </a:prstGeom>
          <a:noFill/>
          <a:ln/>
        </p:spPr>
        <p:txBody>
          <a:bodyPr wrap="square" lIns="0" tIns="0" rIns="0" bIns="0" rtlCol="0" anchor="t"/>
          <a:lstStyle/>
          <a:p>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A critical step in our data preparation process was the segmentation and organization of "single" fish image data. We meticulously sorted these images into 'Good' and 'Bad' folders, creating a structured dataset on Kaggle. This organization was crucial for training our model to distinguish between quality levels effectively.</a:t>
            </a:r>
            <a:endParaRPr lang="en-US" sz="1600" dirty="0"/>
          </a:p>
        </p:txBody>
      </p:sp>
      <p:sp>
        <p:nvSpPr>
          <p:cNvPr id="5" name="Text 3"/>
          <p:cNvSpPr/>
          <p:nvPr/>
        </p:nvSpPr>
        <p:spPr>
          <a:xfrm>
            <a:off x="729258" y="4142423"/>
            <a:ext cx="13171884" cy="1000125"/>
          </a:xfrm>
          <a:prstGeom prst="rect">
            <a:avLst/>
          </a:prstGeom>
          <a:noFill/>
          <a:ln/>
        </p:spPr>
        <p:txBody>
          <a:bodyPr wrap="square" lIns="0" tIns="0" rIns="0" bIns="0" rtlCol="0" anchor="t"/>
          <a:lstStyle/>
          <a:p>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To enhance the robustness of our model, we incorporated 500 images per class from the app testing data into our training and validation datasets. These images, featuring groups of three fish, added complexity and real-world applicability to our dataset, preparing our model for diverse scenarios it might encounter in practical applications.</a:t>
            </a:r>
            <a:endParaRPr lang="en-US" sz="1600" dirty="0"/>
          </a:p>
        </p:txBody>
      </p:sp>
      <p:sp>
        <p:nvSpPr>
          <p:cNvPr id="6" name="Text 4"/>
          <p:cNvSpPr/>
          <p:nvPr/>
        </p:nvSpPr>
        <p:spPr>
          <a:xfrm>
            <a:off x="729258" y="5585222"/>
            <a:ext cx="2734866" cy="341828"/>
          </a:xfrm>
          <a:prstGeom prst="rect">
            <a:avLst/>
          </a:prstGeom>
          <a:noFill/>
          <a:ln/>
        </p:spPr>
        <p:txBody>
          <a:bodyPr wrap="none" lIns="0" tIns="0" rIns="0" bIns="0" rtlCol="0" anchor="t"/>
          <a:lstStyle/>
          <a:p>
            <a:pPr indent="0" marL="0">
              <a:lnSpc>
                <a:spcPts val="2650"/>
              </a:lnSpc>
              <a:buNone/>
            </a:pPr>
            <a:r>
              <a:rPr lang="en-US" sz="2150" b="1" spc="-43" kern="0" dirty="0">
                <a:solidFill>
                  <a:srgbClr val="FF8AAF"/>
                </a:solidFill>
                <a:latin typeface="Petrona Bold" pitchFamily="34" charset="0"/>
                <a:ea typeface="Petrona Bold" pitchFamily="34" charset="-122"/>
                <a:cs typeface="Petrona Bold" pitchFamily="34" charset="-120"/>
              </a:rPr>
              <a:t>Data Sources</a:t>
            </a:r>
            <a:endParaRPr lang="en-US" sz="2150" dirty="0"/>
          </a:p>
        </p:txBody>
      </p:sp>
      <p:sp>
        <p:nvSpPr>
          <p:cNvPr id="7" name="Text 5"/>
          <p:cNvSpPr/>
          <p:nvPr/>
        </p:nvSpPr>
        <p:spPr>
          <a:xfrm>
            <a:off x="729258" y="6135410"/>
            <a:ext cx="4051221" cy="1000125"/>
          </a:xfrm>
          <a:prstGeom prst="rect">
            <a:avLst/>
          </a:prstGeom>
          <a:noFill/>
          <a:ln/>
        </p:spPr>
        <p:txBody>
          <a:bodyPr wrap="square" lIns="0" tIns="0" rIns="0" bIns="0" rtlCol="0" anchor="t"/>
          <a:lstStyle/>
          <a:p>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S3 storage (daily data)</a:t>
            </a:r>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a:t>
            </a:r>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Manual collection</a:t>
            </a:r>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a:t>
            </a:r>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App testing data (group images)</a:t>
            </a:r>
            <a:endParaRPr lang="en-US" sz="1600" dirty="0"/>
          </a:p>
        </p:txBody>
      </p:sp>
      <p:sp>
        <p:nvSpPr>
          <p:cNvPr id="8" name="Text 6"/>
          <p:cNvSpPr/>
          <p:nvPr/>
        </p:nvSpPr>
        <p:spPr>
          <a:xfrm>
            <a:off x="5296495" y="5585222"/>
            <a:ext cx="2734866" cy="341828"/>
          </a:xfrm>
          <a:prstGeom prst="rect">
            <a:avLst/>
          </a:prstGeom>
          <a:noFill/>
          <a:ln/>
        </p:spPr>
        <p:txBody>
          <a:bodyPr wrap="none" lIns="0" tIns="0" rIns="0" bIns="0" rtlCol="0" anchor="t"/>
          <a:lstStyle/>
          <a:p>
            <a:pPr indent="0" marL="0">
              <a:lnSpc>
                <a:spcPts val="2650"/>
              </a:lnSpc>
              <a:buNone/>
            </a:pPr>
            <a:r>
              <a:rPr lang="en-US" sz="2150" b="1" spc="-43" kern="0" dirty="0">
                <a:solidFill>
                  <a:srgbClr val="FF8AAF"/>
                </a:solidFill>
                <a:latin typeface="Petrona Bold" pitchFamily="34" charset="0"/>
                <a:ea typeface="Petrona Bold" pitchFamily="34" charset="-122"/>
                <a:cs typeface="Petrona Bold" pitchFamily="34" charset="-120"/>
              </a:rPr>
              <a:t>Data Organization</a:t>
            </a:r>
            <a:endParaRPr lang="en-US" sz="2150" dirty="0"/>
          </a:p>
        </p:txBody>
      </p:sp>
      <p:sp>
        <p:nvSpPr>
          <p:cNvPr id="9" name="Text 7"/>
          <p:cNvSpPr/>
          <p:nvPr/>
        </p:nvSpPr>
        <p:spPr>
          <a:xfrm>
            <a:off x="5296495" y="6135410"/>
            <a:ext cx="4051221" cy="1333500"/>
          </a:xfrm>
          <a:prstGeom prst="rect">
            <a:avLst/>
          </a:prstGeom>
          <a:noFill/>
          <a:ln/>
        </p:spPr>
        <p:txBody>
          <a:bodyPr wrap="square" lIns="0" tIns="0" rIns="0" bIns="0" rtlCol="0" anchor="t"/>
          <a:lstStyle/>
          <a:p>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Segmentation into 'Good' and 'Bad' categories</a:t>
            </a:r>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a:t>
            </a:r>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Kaggle dataset creation</a:t>
            </a:r>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a:t>
            </a:r>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Inclusion of group fish images</a:t>
            </a:r>
            <a:endParaRPr lang="en-US" sz="1600" dirty="0"/>
          </a:p>
        </p:txBody>
      </p:sp>
      <p:sp>
        <p:nvSpPr>
          <p:cNvPr id="10" name="Text 8"/>
          <p:cNvSpPr/>
          <p:nvPr/>
        </p:nvSpPr>
        <p:spPr>
          <a:xfrm>
            <a:off x="9863733" y="5585222"/>
            <a:ext cx="2734866" cy="341828"/>
          </a:xfrm>
          <a:prstGeom prst="rect">
            <a:avLst/>
          </a:prstGeom>
          <a:noFill/>
          <a:ln/>
        </p:spPr>
        <p:txBody>
          <a:bodyPr wrap="none" lIns="0" tIns="0" rIns="0" bIns="0" rtlCol="0" anchor="t"/>
          <a:lstStyle/>
          <a:p>
            <a:pPr indent="0" marL="0">
              <a:lnSpc>
                <a:spcPts val="2650"/>
              </a:lnSpc>
              <a:buNone/>
            </a:pPr>
            <a:r>
              <a:rPr lang="en-US" sz="2150" b="1" spc="-43" kern="0" dirty="0">
                <a:solidFill>
                  <a:srgbClr val="FF8AAF"/>
                </a:solidFill>
                <a:latin typeface="Petrona Bold" pitchFamily="34" charset="0"/>
                <a:ea typeface="Petrona Bold" pitchFamily="34" charset="-122"/>
                <a:cs typeface="Petrona Bold" pitchFamily="34" charset="-120"/>
              </a:rPr>
              <a:t>Data Preparation</a:t>
            </a:r>
            <a:endParaRPr lang="en-US" sz="2150" dirty="0"/>
          </a:p>
        </p:txBody>
      </p:sp>
      <p:sp>
        <p:nvSpPr>
          <p:cNvPr id="11" name="Text 9"/>
          <p:cNvSpPr/>
          <p:nvPr/>
        </p:nvSpPr>
        <p:spPr>
          <a:xfrm>
            <a:off x="9863733" y="6135410"/>
            <a:ext cx="4051221" cy="1000125"/>
          </a:xfrm>
          <a:prstGeom prst="rect">
            <a:avLst/>
          </a:prstGeom>
          <a:noFill/>
          <a:ln/>
        </p:spPr>
        <p:txBody>
          <a:bodyPr wrap="square" lIns="0" tIns="0" rIns="0" bIns="0" rtlCol="0" anchor="t"/>
          <a:lstStyle/>
          <a:p>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Image preprocessing</a:t>
            </a:r>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a:t>
            </a:r>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Dataset splitting (train/val/test)</a:t>
            </a:r>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a:t>
            </a:r>
            <a:pP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 Quality assurance checks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27578" y="632579"/>
            <a:ext cx="6074331" cy="588288"/>
          </a:xfrm>
          <a:prstGeom prst="rect">
            <a:avLst/>
          </a:prstGeom>
          <a:noFill/>
          <a:ln/>
        </p:spPr>
        <p:txBody>
          <a:bodyPr wrap="none" lIns="0" tIns="0" rIns="0" bIns="0" rtlCol="0" anchor="t"/>
          <a:lstStyle/>
          <a:p>
            <a:pPr indent="0" marL="0">
              <a:lnSpc>
                <a:spcPts val="4600"/>
              </a:lnSpc>
              <a:buNone/>
            </a:pPr>
            <a:r>
              <a:rPr lang="en-US" sz="3700" b="1" spc="-74" kern="0" dirty="0">
                <a:solidFill>
                  <a:srgbClr val="FF8AAF"/>
                </a:solidFill>
                <a:latin typeface="Petrona Bold" pitchFamily="34" charset="0"/>
                <a:ea typeface="Petrona Bold" pitchFamily="34" charset="-122"/>
                <a:cs typeface="Petrona Bold" pitchFamily="34" charset="-120"/>
              </a:rPr>
              <a:t>Dataset Distribution Analysis</a:t>
            </a:r>
            <a:endParaRPr lang="en-US" sz="3700" dirty="0"/>
          </a:p>
        </p:txBody>
      </p:sp>
      <p:sp>
        <p:nvSpPr>
          <p:cNvPr id="3" name="Text 1"/>
          <p:cNvSpPr/>
          <p:nvPr/>
        </p:nvSpPr>
        <p:spPr>
          <a:xfrm>
            <a:off x="627578" y="1579483"/>
            <a:ext cx="13375243" cy="860465"/>
          </a:xfrm>
          <a:prstGeom prst="rect">
            <a:avLst/>
          </a:prstGeom>
          <a:noFill/>
          <a:ln/>
        </p:spPr>
        <p:txBody>
          <a:bodyPr wrap="squar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A critical aspect of our Fish Quality Classification Project was ensuring a balanced and representative dataset distribution. We meticulously divided our data into training, validation, test, and unseen subsets, with an additional category for app testing data. This strategic segmentation allowed us to train our model effectively while maintaining robust evaluation metrics.</a:t>
            </a:r>
            <a:endParaRPr lang="en-US" sz="1400" dirty="0"/>
          </a:p>
        </p:txBody>
      </p:sp>
      <p:sp>
        <p:nvSpPr>
          <p:cNvPr id="4" name="Text 2"/>
          <p:cNvSpPr/>
          <p:nvPr/>
        </p:nvSpPr>
        <p:spPr>
          <a:xfrm>
            <a:off x="627578" y="2641640"/>
            <a:ext cx="13375243" cy="860465"/>
          </a:xfrm>
          <a:prstGeom prst="rect">
            <a:avLst/>
          </a:prstGeom>
          <a:noFill/>
          <a:ln/>
        </p:spPr>
        <p:txBody>
          <a:bodyPr wrap="squar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Our training dataset, the largest subset, comprised 5,968 'Good' and 6,010 'Bad' images, providing a solid foundation for learning fish quality indicators. The validation set, crucial for tuning hyperparameters and preventing overfitting, included 1,869 'Good' and 1,873 'Bad' images. For final model evaluation, we reserved a test set of 1,712 'Good' and 1,711 'Bad' images, ensuring an unbiased assessment of model performance.</a:t>
            </a:r>
            <a:endParaRPr lang="en-US" sz="1400" dirty="0"/>
          </a:p>
        </p:txBody>
      </p:sp>
      <p:sp>
        <p:nvSpPr>
          <p:cNvPr id="5" name="Text 3"/>
          <p:cNvSpPr/>
          <p:nvPr/>
        </p:nvSpPr>
        <p:spPr>
          <a:xfrm>
            <a:off x="627578" y="3703796"/>
            <a:ext cx="13375243" cy="573643"/>
          </a:xfrm>
          <a:prstGeom prst="rect">
            <a:avLst/>
          </a:prstGeom>
          <a:noFill/>
          <a:ln/>
        </p:spPr>
        <p:txBody>
          <a:bodyPr wrap="squar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To simulate real-world scenarios and test model generalization, we created an unseen dataset of 50 'Good' and 51 'Bad' images. Additionally, we incorporated app testing data, consisting of 1,423 'Good' and 670 'Bad' images, to evaluate the model's performance on images similar to those encountered in the actual application.</a:t>
            </a:r>
            <a:endParaRPr lang="en-US" sz="1400" dirty="0"/>
          </a:p>
        </p:txBody>
      </p:sp>
      <p:sp>
        <p:nvSpPr>
          <p:cNvPr id="6" name="Shape 4"/>
          <p:cNvSpPr/>
          <p:nvPr/>
        </p:nvSpPr>
        <p:spPr>
          <a:xfrm>
            <a:off x="627578" y="4479131"/>
            <a:ext cx="13375243" cy="3117771"/>
          </a:xfrm>
          <a:prstGeom prst="roundRect">
            <a:avLst>
              <a:gd name="adj" fmla="val 2416"/>
            </a:avLst>
          </a:prstGeom>
          <a:noFill/>
          <a:ln w="7620">
            <a:solidFill>
              <a:srgbClr val="FFFFFF">
                <a:alpha val="24000"/>
              </a:srgbClr>
            </a:solidFill>
            <a:prstDash val="solid"/>
          </a:ln>
        </p:spPr>
      </p:sp>
      <p:sp>
        <p:nvSpPr>
          <p:cNvPr id="7" name="Shape 5"/>
          <p:cNvSpPr/>
          <p:nvPr/>
        </p:nvSpPr>
        <p:spPr>
          <a:xfrm>
            <a:off x="635198" y="4486751"/>
            <a:ext cx="13358574" cy="517088"/>
          </a:xfrm>
          <a:prstGeom prst="rect">
            <a:avLst/>
          </a:prstGeom>
          <a:solidFill>
            <a:srgbClr val="FFFFFF">
              <a:alpha val="4000"/>
            </a:srgbClr>
          </a:solidFill>
          <a:ln/>
        </p:spPr>
      </p:sp>
      <p:sp>
        <p:nvSpPr>
          <p:cNvPr id="8" name="Text 6"/>
          <p:cNvSpPr/>
          <p:nvPr/>
        </p:nvSpPr>
        <p:spPr>
          <a:xfrm>
            <a:off x="816054" y="4601885"/>
            <a:ext cx="408991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Dataset</a:t>
            </a:r>
            <a:endParaRPr lang="en-US" sz="1400" dirty="0"/>
          </a:p>
        </p:txBody>
      </p:sp>
      <p:sp>
        <p:nvSpPr>
          <p:cNvPr id="9" name="Text 7"/>
          <p:cNvSpPr/>
          <p:nvPr/>
        </p:nvSpPr>
        <p:spPr>
          <a:xfrm>
            <a:off x="5272207" y="4601885"/>
            <a:ext cx="408610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Good</a:t>
            </a:r>
            <a:endParaRPr lang="en-US" sz="1400" dirty="0"/>
          </a:p>
        </p:txBody>
      </p:sp>
      <p:sp>
        <p:nvSpPr>
          <p:cNvPr id="10" name="Text 8"/>
          <p:cNvSpPr/>
          <p:nvPr/>
        </p:nvSpPr>
        <p:spPr>
          <a:xfrm>
            <a:off x="9724549" y="4601885"/>
            <a:ext cx="408991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Bad</a:t>
            </a:r>
            <a:endParaRPr lang="en-US" sz="1400" dirty="0"/>
          </a:p>
        </p:txBody>
      </p:sp>
      <p:sp>
        <p:nvSpPr>
          <p:cNvPr id="11" name="Shape 9"/>
          <p:cNvSpPr/>
          <p:nvPr/>
        </p:nvSpPr>
        <p:spPr>
          <a:xfrm>
            <a:off x="635198" y="5003840"/>
            <a:ext cx="13358574" cy="517088"/>
          </a:xfrm>
          <a:prstGeom prst="rect">
            <a:avLst/>
          </a:prstGeom>
          <a:solidFill>
            <a:srgbClr val="000000">
              <a:alpha val="4000"/>
            </a:srgbClr>
          </a:solidFill>
          <a:ln/>
        </p:spPr>
      </p:sp>
      <p:sp>
        <p:nvSpPr>
          <p:cNvPr id="12" name="Text 10"/>
          <p:cNvSpPr/>
          <p:nvPr/>
        </p:nvSpPr>
        <p:spPr>
          <a:xfrm>
            <a:off x="816054" y="5118973"/>
            <a:ext cx="408991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Training</a:t>
            </a:r>
            <a:endParaRPr lang="en-US" sz="1400" dirty="0"/>
          </a:p>
        </p:txBody>
      </p:sp>
      <p:sp>
        <p:nvSpPr>
          <p:cNvPr id="13" name="Text 11"/>
          <p:cNvSpPr/>
          <p:nvPr/>
        </p:nvSpPr>
        <p:spPr>
          <a:xfrm>
            <a:off x="5272207" y="5118973"/>
            <a:ext cx="408610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5968</a:t>
            </a:r>
            <a:endParaRPr lang="en-US" sz="1400" dirty="0"/>
          </a:p>
        </p:txBody>
      </p:sp>
      <p:sp>
        <p:nvSpPr>
          <p:cNvPr id="14" name="Text 12"/>
          <p:cNvSpPr/>
          <p:nvPr/>
        </p:nvSpPr>
        <p:spPr>
          <a:xfrm>
            <a:off x="9724549" y="5118973"/>
            <a:ext cx="408991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6010</a:t>
            </a:r>
            <a:endParaRPr lang="en-US" sz="1400" dirty="0"/>
          </a:p>
        </p:txBody>
      </p:sp>
      <p:sp>
        <p:nvSpPr>
          <p:cNvPr id="15" name="Shape 13"/>
          <p:cNvSpPr/>
          <p:nvPr/>
        </p:nvSpPr>
        <p:spPr>
          <a:xfrm>
            <a:off x="635198" y="5520928"/>
            <a:ext cx="13358574" cy="517088"/>
          </a:xfrm>
          <a:prstGeom prst="rect">
            <a:avLst/>
          </a:prstGeom>
          <a:solidFill>
            <a:srgbClr val="FFFFFF">
              <a:alpha val="4000"/>
            </a:srgbClr>
          </a:solidFill>
          <a:ln/>
        </p:spPr>
      </p:sp>
      <p:sp>
        <p:nvSpPr>
          <p:cNvPr id="16" name="Text 14"/>
          <p:cNvSpPr/>
          <p:nvPr/>
        </p:nvSpPr>
        <p:spPr>
          <a:xfrm>
            <a:off x="816054" y="5636062"/>
            <a:ext cx="408991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Validation</a:t>
            </a:r>
            <a:endParaRPr lang="en-US" sz="1400" dirty="0"/>
          </a:p>
        </p:txBody>
      </p:sp>
      <p:sp>
        <p:nvSpPr>
          <p:cNvPr id="17" name="Text 15"/>
          <p:cNvSpPr/>
          <p:nvPr/>
        </p:nvSpPr>
        <p:spPr>
          <a:xfrm>
            <a:off x="5272207" y="5636062"/>
            <a:ext cx="408610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1869</a:t>
            </a:r>
            <a:endParaRPr lang="en-US" sz="1400" dirty="0"/>
          </a:p>
        </p:txBody>
      </p:sp>
      <p:sp>
        <p:nvSpPr>
          <p:cNvPr id="18" name="Text 16"/>
          <p:cNvSpPr/>
          <p:nvPr/>
        </p:nvSpPr>
        <p:spPr>
          <a:xfrm>
            <a:off x="9724549" y="5636062"/>
            <a:ext cx="408991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1873</a:t>
            </a:r>
            <a:endParaRPr lang="en-US" sz="1400" dirty="0"/>
          </a:p>
        </p:txBody>
      </p:sp>
      <p:sp>
        <p:nvSpPr>
          <p:cNvPr id="19" name="Shape 17"/>
          <p:cNvSpPr/>
          <p:nvPr/>
        </p:nvSpPr>
        <p:spPr>
          <a:xfrm>
            <a:off x="635198" y="6038017"/>
            <a:ext cx="13358574" cy="517088"/>
          </a:xfrm>
          <a:prstGeom prst="rect">
            <a:avLst/>
          </a:prstGeom>
          <a:solidFill>
            <a:srgbClr val="000000">
              <a:alpha val="4000"/>
            </a:srgbClr>
          </a:solidFill>
          <a:ln/>
        </p:spPr>
      </p:sp>
      <p:sp>
        <p:nvSpPr>
          <p:cNvPr id="20" name="Text 18"/>
          <p:cNvSpPr/>
          <p:nvPr/>
        </p:nvSpPr>
        <p:spPr>
          <a:xfrm>
            <a:off x="816054" y="6153150"/>
            <a:ext cx="408991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Test</a:t>
            </a:r>
            <a:endParaRPr lang="en-US" sz="1400" dirty="0"/>
          </a:p>
        </p:txBody>
      </p:sp>
      <p:sp>
        <p:nvSpPr>
          <p:cNvPr id="21" name="Text 19"/>
          <p:cNvSpPr/>
          <p:nvPr/>
        </p:nvSpPr>
        <p:spPr>
          <a:xfrm>
            <a:off x="5272207" y="6153150"/>
            <a:ext cx="408610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1712</a:t>
            </a:r>
            <a:endParaRPr lang="en-US" sz="1400" dirty="0"/>
          </a:p>
        </p:txBody>
      </p:sp>
      <p:sp>
        <p:nvSpPr>
          <p:cNvPr id="22" name="Text 20"/>
          <p:cNvSpPr/>
          <p:nvPr/>
        </p:nvSpPr>
        <p:spPr>
          <a:xfrm>
            <a:off x="9724549" y="6153150"/>
            <a:ext cx="408991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1711</a:t>
            </a:r>
            <a:endParaRPr lang="en-US" sz="1400" dirty="0"/>
          </a:p>
        </p:txBody>
      </p:sp>
      <p:sp>
        <p:nvSpPr>
          <p:cNvPr id="23" name="Shape 21"/>
          <p:cNvSpPr/>
          <p:nvPr/>
        </p:nvSpPr>
        <p:spPr>
          <a:xfrm>
            <a:off x="635198" y="6555105"/>
            <a:ext cx="13358574" cy="517088"/>
          </a:xfrm>
          <a:prstGeom prst="rect">
            <a:avLst/>
          </a:prstGeom>
          <a:solidFill>
            <a:srgbClr val="FFFFFF">
              <a:alpha val="4000"/>
            </a:srgbClr>
          </a:solidFill>
          <a:ln/>
        </p:spPr>
      </p:sp>
      <p:sp>
        <p:nvSpPr>
          <p:cNvPr id="24" name="Text 22"/>
          <p:cNvSpPr/>
          <p:nvPr/>
        </p:nvSpPr>
        <p:spPr>
          <a:xfrm>
            <a:off x="816054" y="6670238"/>
            <a:ext cx="408991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Unseen</a:t>
            </a:r>
            <a:endParaRPr lang="en-US" sz="1400" dirty="0"/>
          </a:p>
        </p:txBody>
      </p:sp>
      <p:sp>
        <p:nvSpPr>
          <p:cNvPr id="25" name="Text 23"/>
          <p:cNvSpPr/>
          <p:nvPr/>
        </p:nvSpPr>
        <p:spPr>
          <a:xfrm>
            <a:off x="5272207" y="6670238"/>
            <a:ext cx="408610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50</a:t>
            </a:r>
            <a:endParaRPr lang="en-US" sz="1400" dirty="0"/>
          </a:p>
        </p:txBody>
      </p:sp>
      <p:sp>
        <p:nvSpPr>
          <p:cNvPr id="26" name="Text 24"/>
          <p:cNvSpPr/>
          <p:nvPr/>
        </p:nvSpPr>
        <p:spPr>
          <a:xfrm>
            <a:off x="9724549" y="6670238"/>
            <a:ext cx="408991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51</a:t>
            </a:r>
            <a:endParaRPr lang="en-US" sz="1400" dirty="0"/>
          </a:p>
        </p:txBody>
      </p:sp>
      <p:sp>
        <p:nvSpPr>
          <p:cNvPr id="27" name="Shape 25"/>
          <p:cNvSpPr/>
          <p:nvPr/>
        </p:nvSpPr>
        <p:spPr>
          <a:xfrm>
            <a:off x="635198" y="7072193"/>
            <a:ext cx="13358574" cy="517088"/>
          </a:xfrm>
          <a:prstGeom prst="rect">
            <a:avLst/>
          </a:prstGeom>
          <a:solidFill>
            <a:srgbClr val="000000">
              <a:alpha val="4000"/>
            </a:srgbClr>
          </a:solidFill>
          <a:ln/>
        </p:spPr>
      </p:sp>
      <p:sp>
        <p:nvSpPr>
          <p:cNvPr id="28" name="Text 26"/>
          <p:cNvSpPr/>
          <p:nvPr/>
        </p:nvSpPr>
        <p:spPr>
          <a:xfrm>
            <a:off x="816054" y="7187327"/>
            <a:ext cx="408991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App testing data</a:t>
            </a:r>
            <a:endParaRPr lang="en-US" sz="1400" dirty="0"/>
          </a:p>
        </p:txBody>
      </p:sp>
      <p:sp>
        <p:nvSpPr>
          <p:cNvPr id="29" name="Text 27"/>
          <p:cNvSpPr/>
          <p:nvPr/>
        </p:nvSpPr>
        <p:spPr>
          <a:xfrm>
            <a:off x="5272207" y="7187327"/>
            <a:ext cx="408610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1423</a:t>
            </a:r>
            <a:endParaRPr lang="en-US" sz="1400" dirty="0"/>
          </a:p>
        </p:txBody>
      </p:sp>
      <p:sp>
        <p:nvSpPr>
          <p:cNvPr id="30" name="Text 28"/>
          <p:cNvSpPr/>
          <p:nvPr/>
        </p:nvSpPr>
        <p:spPr>
          <a:xfrm>
            <a:off x="9724549" y="7187327"/>
            <a:ext cx="4089916" cy="286822"/>
          </a:xfrm>
          <a:prstGeom prst="rect">
            <a:avLst/>
          </a:prstGeom>
          <a:noFill/>
          <a:ln/>
        </p:spPr>
        <p:txBody>
          <a:bodyPr wrap="none" lIns="0" tIns="0" rIns="0" bIns="0" rtlCol="0" anchor="t"/>
          <a:lstStyle/>
          <a:p>
            <a:pPr indent="0" marL="0">
              <a:lnSpc>
                <a:spcPts val="2250"/>
              </a:lnSpc>
              <a:buNone/>
            </a:pPr>
            <a:r>
              <a:rPr lang="en-US" sz="1400" spc="-28" kern="0" dirty="0">
                <a:solidFill>
                  <a:srgbClr val="E0D6DE"/>
                </a:solidFill>
                <a:latin typeface="Inter" pitchFamily="34" charset="0"/>
                <a:ea typeface="Inter" pitchFamily="34" charset="-122"/>
                <a:cs typeface="Inter" pitchFamily="34" charset="-120"/>
              </a:rPr>
              <a:t>670</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3775" y="746403"/>
            <a:ext cx="8075295" cy="631627"/>
          </a:xfrm>
          <a:prstGeom prst="rect">
            <a:avLst/>
          </a:prstGeom>
          <a:noFill/>
          <a:ln/>
        </p:spPr>
        <p:txBody>
          <a:bodyPr wrap="none" lIns="0" tIns="0" rIns="0" bIns="0" rtlCol="0" anchor="t"/>
          <a:lstStyle/>
          <a:p>
            <a:pPr indent="0" marL="0">
              <a:lnSpc>
                <a:spcPts val="4950"/>
              </a:lnSpc>
              <a:buNone/>
            </a:pPr>
            <a:r>
              <a:rPr lang="en-US" sz="3950" b="1" spc="-80" kern="0" dirty="0">
                <a:solidFill>
                  <a:srgbClr val="FF8AAF"/>
                </a:solidFill>
                <a:latin typeface="Petrona Bold" pitchFamily="34" charset="0"/>
                <a:ea typeface="Petrona Bold" pitchFamily="34" charset="-122"/>
                <a:cs typeface="Petrona Bold" pitchFamily="34" charset="-120"/>
              </a:rPr>
              <a:t>Experiment 1: Initial Model Training</a:t>
            </a:r>
            <a:endParaRPr lang="en-US" sz="3950" dirty="0"/>
          </a:p>
        </p:txBody>
      </p:sp>
      <p:sp>
        <p:nvSpPr>
          <p:cNvPr id="3" name="Text 1"/>
          <p:cNvSpPr/>
          <p:nvPr/>
        </p:nvSpPr>
        <p:spPr>
          <a:xfrm>
            <a:off x="673775" y="1762958"/>
            <a:ext cx="13282851" cy="924044"/>
          </a:xfrm>
          <a:prstGeom prst="rect">
            <a:avLst/>
          </a:prstGeom>
          <a:noFill/>
          <a:ln/>
        </p:spPr>
        <p:txBody>
          <a:bodyPr wrap="square" lIns="0" tIns="0" rIns="0" bIns="0" rtlCol="0" anchor="t"/>
          <a:lstStyle/>
          <a:p>
            <a:pPr indent="0" marL="0">
              <a:lnSpc>
                <a:spcPts val="2400"/>
              </a:lnSpc>
              <a:buNone/>
            </a:pPr>
            <a:r>
              <a:rPr lang="en-US" sz="1500" spc="-30" kern="0" dirty="0">
                <a:solidFill>
                  <a:srgbClr val="E0D6DE"/>
                </a:solidFill>
                <a:latin typeface="Inter" pitchFamily="34" charset="0"/>
                <a:ea typeface="Inter" pitchFamily="34" charset="-122"/>
                <a:cs typeface="Inter" pitchFamily="34" charset="-120"/>
              </a:rPr>
              <a:t>Our journey in fish quality classification began with an initial model training experiment, laying the groundwork for subsequent improvements. We chose DenseNet121 as our base model, renowned for its efficiency in feature extraction and parameter utilization. The model architecture included a Global Average Pooling 2D layer, followed by Dense layers with 128 and 32 neurons, incorporating a Dropout layer (20%) to mitigate overfitting.</a:t>
            </a:r>
            <a:endParaRPr lang="en-US" sz="1500" dirty="0"/>
          </a:p>
        </p:txBody>
      </p:sp>
      <p:sp>
        <p:nvSpPr>
          <p:cNvPr id="4" name="Text 2"/>
          <p:cNvSpPr/>
          <p:nvPr/>
        </p:nvSpPr>
        <p:spPr>
          <a:xfrm>
            <a:off x="673775" y="2903577"/>
            <a:ext cx="13282851" cy="924044"/>
          </a:xfrm>
          <a:prstGeom prst="rect">
            <a:avLst/>
          </a:prstGeom>
          <a:noFill/>
          <a:ln/>
        </p:spPr>
        <p:txBody>
          <a:bodyPr wrap="square" lIns="0" tIns="0" rIns="0" bIns="0" rtlCol="0" anchor="t"/>
          <a:lstStyle/>
          <a:p>
            <a:pPr indent="0" marL="0">
              <a:lnSpc>
                <a:spcPts val="2400"/>
              </a:lnSpc>
              <a:buNone/>
            </a:pPr>
            <a:r>
              <a:rPr lang="en-US" sz="1500" spc="-30" kern="0" dirty="0">
                <a:solidFill>
                  <a:srgbClr val="E0D6DE"/>
                </a:solidFill>
                <a:latin typeface="Inter" pitchFamily="34" charset="0"/>
                <a:ea typeface="Inter" pitchFamily="34" charset="-122"/>
                <a:cs typeface="Inter" pitchFamily="34" charset="-120"/>
              </a:rPr>
              <a:t>We utilized TensorFlow 2.15 for this experiment, training the model for 50 epochs with a batch size of 32. The input images were resized to 224x224 pixels, and we initially opted not to use data augmentation. To optimize the training process, we implemented ReduceLROnPlateau and EarlyStopping callbacks, allowing for dynamic learning rate adjustment and preventing unnecessary computations.</a:t>
            </a:r>
            <a:endParaRPr lang="en-US" sz="1500" dirty="0"/>
          </a:p>
        </p:txBody>
      </p:sp>
      <p:sp>
        <p:nvSpPr>
          <p:cNvPr id="5" name="Text 3"/>
          <p:cNvSpPr/>
          <p:nvPr/>
        </p:nvSpPr>
        <p:spPr>
          <a:xfrm>
            <a:off x="673775" y="4044196"/>
            <a:ext cx="13282851" cy="924044"/>
          </a:xfrm>
          <a:prstGeom prst="rect">
            <a:avLst/>
          </a:prstGeom>
          <a:noFill/>
          <a:ln/>
        </p:spPr>
        <p:txBody>
          <a:bodyPr wrap="square" lIns="0" tIns="0" rIns="0" bIns="0" rtlCol="0" anchor="t"/>
          <a:lstStyle/>
          <a:p>
            <a:pPr indent="0" marL="0">
              <a:lnSpc>
                <a:spcPts val="2400"/>
              </a:lnSpc>
              <a:buNone/>
            </a:pPr>
            <a:r>
              <a:rPr lang="en-US" sz="1500" spc="-30" kern="0" dirty="0">
                <a:solidFill>
                  <a:srgbClr val="E0D6DE"/>
                </a:solidFill>
                <a:latin typeface="Inter" pitchFamily="34" charset="0"/>
                <a:ea typeface="Inter" pitchFamily="34" charset="-122"/>
                <a:cs typeface="Inter" pitchFamily="34" charset="-120"/>
              </a:rPr>
              <a:t>The results of this initial experiment were promising, with a training accuracy of 77% and validation accuracy of 74%. The model achieved 73% accuracy on the test set and 76% on unseen data. While these metrics showed potential, the slight discrepancy between training and validation accuracies hinted at overfitting, prompting us to explore further optimization strategies in subsequent experiments.</a:t>
            </a:r>
            <a:endParaRPr lang="en-US" sz="1500" dirty="0"/>
          </a:p>
        </p:txBody>
      </p:sp>
      <p:pic>
        <p:nvPicPr>
          <p:cNvPr id="6" name="Image 0" descr="preencoded.png">    </p:cNvPr>
          <p:cNvPicPr>
            <a:picLocks noChangeAspect="1"/>
          </p:cNvPicPr>
          <p:nvPr/>
        </p:nvPicPr>
        <p:blipFill>
          <a:blip r:embed="rId1"/>
          <a:stretch>
            <a:fillRect/>
          </a:stretch>
        </p:blipFill>
        <p:spPr>
          <a:xfrm>
            <a:off x="673775" y="5184815"/>
            <a:ext cx="3320653" cy="769977"/>
          </a:xfrm>
          <a:prstGeom prst="rect">
            <a:avLst/>
          </a:prstGeom>
        </p:spPr>
      </p:pic>
      <p:sp>
        <p:nvSpPr>
          <p:cNvPr id="7" name="Text 4"/>
          <p:cNvSpPr/>
          <p:nvPr/>
        </p:nvSpPr>
        <p:spPr>
          <a:xfrm>
            <a:off x="866180" y="6243518"/>
            <a:ext cx="2526744" cy="315754"/>
          </a:xfrm>
          <a:prstGeom prst="rect">
            <a:avLst/>
          </a:prstGeom>
          <a:noFill/>
          <a:ln/>
        </p:spPr>
        <p:txBody>
          <a:bodyPr wrap="none" lIns="0" tIns="0" rIns="0" bIns="0" rtlCol="0" anchor="t"/>
          <a:lstStyle/>
          <a:p>
            <a:pPr algn="l" indent="0" marL="0">
              <a:lnSpc>
                <a:spcPts val="2450"/>
              </a:lnSpc>
              <a:buNone/>
            </a:pPr>
            <a:r>
              <a:rPr lang="en-US" sz="1950" b="1" spc="-40" kern="0" dirty="0">
                <a:solidFill>
                  <a:srgbClr val="E0D6DE"/>
                </a:solidFill>
                <a:latin typeface="Petrona Bold" pitchFamily="34" charset="0"/>
                <a:ea typeface="Petrona Bold" pitchFamily="34" charset="-122"/>
                <a:cs typeface="Petrona Bold" pitchFamily="34" charset="-120"/>
              </a:rPr>
              <a:t>Model Selection</a:t>
            </a:r>
            <a:endParaRPr lang="en-US" sz="1950" dirty="0"/>
          </a:p>
        </p:txBody>
      </p:sp>
      <p:sp>
        <p:nvSpPr>
          <p:cNvPr id="8" name="Text 5"/>
          <p:cNvSpPr/>
          <p:nvPr/>
        </p:nvSpPr>
        <p:spPr>
          <a:xfrm>
            <a:off x="866180" y="6674763"/>
            <a:ext cx="2935843" cy="616029"/>
          </a:xfrm>
          <a:prstGeom prst="rect">
            <a:avLst/>
          </a:prstGeom>
          <a:noFill/>
          <a:ln/>
        </p:spPr>
        <p:txBody>
          <a:bodyPr wrap="square" lIns="0" tIns="0" rIns="0" bIns="0" rtlCol="0" anchor="t"/>
          <a:lstStyle/>
          <a:p>
            <a:pPr algn="l" indent="0" marL="0">
              <a:lnSpc>
                <a:spcPts val="2400"/>
              </a:lnSpc>
              <a:buNone/>
            </a:pPr>
            <a:r>
              <a:rPr lang="en-US" sz="1500" spc="-30" kern="0" dirty="0">
                <a:solidFill>
                  <a:srgbClr val="E0D6DE"/>
                </a:solidFill>
                <a:latin typeface="Inter" pitchFamily="34" charset="0"/>
                <a:ea typeface="Inter" pitchFamily="34" charset="-122"/>
                <a:cs typeface="Inter" pitchFamily="34" charset="-120"/>
              </a:rPr>
              <a:t>Choose DenseNet121 as base model</a:t>
            </a:r>
            <a:endParaRPr lang="en-US" sz="1500" dirty="0"/>
          </a:p>
        </p:txBody>
      </p:sp>
      <p:pic>
        <p:nvPicPr>
          <p:cNvPr id="9" name="Image 1" descr="preencoded.png">    </p:cNvPr>
          <p:cNvPicPr>
            <a:picLocks noChangeAspect="1"/>
          </p:cNvPicPr>
          <p:nvPr/>
        </p:nvPicPr>
        <p:blipFill>
          <a:blip r:embed="rId2"/>
          <a:stretch>
            <a:fillRect/>
          </a:stretch>
        </p:blipFill>
        <p:spPr>
          <a:xfrm>
            <a:off x="3994428" y="5184815"/>
            <a:ext cx="3320772" cy="769977"/>
          </a:xfrm>
          <a:prstGeom prst="rect">
            <a:avLst/>
          </a:prstGeom>
        </p:spPr>
      </p:pic>
      <p:sp>
        <p:nvSpPr>
          <p:cNvPr id="10" name="Text 6"/>
          <p:cNvSpPr/>
          <p:nvPr/>
        </p:nvSpPr>
        <p:spPr>
          <a:xfrm>
            <a:off x="4186833" y="6243518"/>
            <a:ext cx="2526744" cy="315754"/>
          </a:xfrm>
          <a:prstGeom prst="rect">
            <a:avLst/>
          </a:prstGeom>
          <a:noFill/>
          <a:ln/>
        </p:spPr>
        <p:txBody>
          <a:bodyPr wrap="none" lIns="0" tIns="0" rIns="0" bIns="0" rtlCol="0" anchor="t"/>
          <a:lstStyle/>
          <a:p>
            <a:pPr algn="l" indent="0" marL="0">
              <a:lnSpc>
                <a:spcPts val="2450"/>
              </a:lnSpc>
              <a:buNone/>
            </a:pPr>
            <a:r>
              <a:rPr lang="en-US" sz="1950" b="1" spc="-40" kern="0" dirty="0">
                <a:solidFill>
                  <a:srgbClr val="E0D6DE"/>
                </a:solidFill>
                <a:latin typeface="Petrona Bold" pitchFamily="34" charset="0"/>
                <a:ea typeface="Petrona Bold" pitchFamily="34" charset="-122"/>
                <a:cs typeface="Petrona Bold" pitchFamily="34" charset="-120"/>
              </a:rPr>
              <a:t>Architecture Design</a:t>
            </a:r>
            <a:endParaRPr lang="en-US" sz="1950" dirty="0"/>
          </a:p>
        </p:txBody>
      </p:sp>
      <p:sp>
        <p:nvSpPr>
          <p:cNvPr id="11" name="Text 7"/>
          <p:cNvSpPr/>
          <p:nvPr/>
        </p:nvSpPr>
        <p:spPr>
          <a:xfrm>
            <a:off x="4186833" y="6674763"/>
            <a:ext cx="2935962" cy="616029"/>
          </a:xfrm>
          <a:prstGeom prst="rect">
            <a:avLst/>
          </a:prstGeom>
          <a:noFill/>
          <a:ln/>
        </p:spPr>
        <p:txBody>
          <a:bodyPr wrap="square" lIns="0" tIns="0" rIns="0" bIns="0" rtlCol="0" anchor="t"/>
          <a:lstStyle/>
          <a:p>
            <a:pPr algn="l" indent="0" marL="0">
              <a:lnSpc>
                <a:spcPts val="2400"/>
              </a:lnSpc>
              <a:buNone/>
            </a:pPr>
            <a:r>
              <a:rPr lang="en-US" sz="1500" spc="-30" kern="0" dirty="0">
                <a:solidFill>
                  <a:srgbClr val="E0D6DE"/>
                </a:solidFill>
                <a:latin typeface="Inter" pitchFamily="34" charset="0"/>
                <a:ea typeface="Inter" pitchFamily="34" charset="-122"/>
                <a:cs typeface="Inter" pitchFamily="34" charset="-120"/>
              </a:rPr>
              <a:t>Add custom layers for classification</a:t>
            </a:r>
            <a:endParaRPr lang="en-US" sz="1500" dirty="0"/>
          </a:p>
        </p:txBody>
      </p:sp>
      <p:pic>
        <p:nvPicPr>
          <p:cNvPr id="12" name="Image 2" descr="preencoded.png">    </p:cNvPr>
          <p:cNvPicPr>
            <a:picLocks noChangeAspect="1"/>
          </p:cNvPicPr>
          <p:nvPr/>
        </p:nvPicPr>
        <p:blipFill>
          <a:blip r:embed="rId3"/>
          <a:stretch>
            <a:fillRect/>
          </a:stretch>
        </p:blipFill>
        <p:spPr>
          <a:xfrm>
            <a:off x="7315200" y="5184815"/>
            <a:ext cx="3320653" cy="769977"/>
          </a:xfrm>
          <a:prstGeom prst="rect">
            <a:avLst/>
          </a:prstGeom>
        </p:spPr>
      </p:pic>
      <p:sp>
        <p:nvSpPr>
          <p:cNvPr id="13" name="Text 8"/>
          <p:cNvSpPr/>
          <p:nvPr/>
        </p:nvSpPr>
        <p:spPr>
          <a:xfrm>
            <a:off x="7507605" y="6243518"/>
            <a:ext cx="2591514" cy="315754"/>
          </a:xfrm>
          <a:prstGeom prst="rect">
            <a:avLst/>
          </a:prstGeom>
          <a:noFill/>
          <a:ln/>
        </p:spPr>
        <p:txBody>
          <a:bodyPr wrap="none" lIns="0" tIns="0" rIns="0" bIns="0" rtlCol="0" anchor="t"/>
          <a:lstStyle/>
          <a:p>
            <a:pPr algn="l" indent="0" marL="0">
              <a:lnSpc>
                <a:spcPts val="2450"/>
              </a:lnSpc>
              <a:buNone/>
            </a:pPr>
            <a:r>
              <a:rPr lang="en-US" sz="1950" b="1" spc="-40" kern="0" dirty="0">
                <a:solidFill>
                  <a:srgbClr val="E0D6DE"/>
                </a:solidFill>
                <a:latin typeface="Petrona Bold" pitchFamily="34" charset="0"/>
                <a:ea typeface="Petrona Bold" pitchFamily="34" charset="-122"/>
                <a:cs typeface="Petrona Bold" pitchFamily="34" charset="-120"/>
              </a:rPr>
              <a:t>Training Configuration</a:t>
            </a:r>
            <a:endParaRPr lang="en-US" sz="1950" dirty="0"/>
          </a:p>
        </p:txBody>
      </p:sp>
      <p:sp>
        <p:nvSpPr>
          <p:cNvPr id="14" name="Text 9"/>
          <p:cNvSpPr/>
          <p:nvPr/>
        </p:nvSpPr>
        <p:spPr>
          <a:xfrm>
            <a:off x="7507605" y="6674763"/>
            <a:ext cx="2935843" cy="616029"/>
          </a:xfrm>
          <a:prstGeom prst="rect">
            <a:avLst/>
          </a:prstGeom>
          <a:noFill/>
          <a:ln/>
        </p:spPr>
        <p:txBody>
          <a:bodyPr wrap="square" lIns="0" tIns="0" rIns="0" bIns="0" rtlCol="0" anchor="t"/>
          <a:lstStyle/>
          <a:p>
            <a:pPr algn="l" indent="0" marL="0">
              <a:lnSpc>
                <a:spcPts val="2400"/>
              </a:lnSpc>
              <a:buNone/>
            </a:pPr>
            <a:r>
              <a:rPr lang="en-US" sz="1500" spc="-30" kern="0" dirty="0">
                <a:solidFill>
                  <a:srgbClr val="E0D6DE"/>
                </a:solidFill>
                <a:latin typeface="Inter" pitchFamily="34" charset="0"/>
                <a:ea typeface="Inter" pitchFamily="34" charset="-122"/>
                <a:cs typeface="Inter" pitchFamily="34" charset="-120"/>
              </a:rPr>
              <a:t>Set hyperparameters and callbacks</a:t>
            </a:r>
            <a:endParaRPr lang="en-US" sz="1500" dirty="0"/>
          </a:p>
        </p:txBody>
      </p:sp>
      <p:pic>
        <p:nvPicPr>
          <p:cNvPr id="15" name="Image 3" descr="preencoded.png">    </p:cNvPr>
          <p:cNvPicPr>
            <a:picLocks noChangeAspect="1"/>
          </p:cNvPicPr>
          <p:nvPr/>
        </p:nvPicPr>
        <p:blipFill>
          <a:blip r:embed="rId4"/>
          <a:stretch>
            <a:fillRect/>
          </a:stretch>
        </p:blipFill>
        <p:spPr>
          <a:xfrm>
            <a:off x="10635853" y="5184815"/>
            <a:ext cx="3320772" cy="769977"/>
          </a:xfrm>
          <a:prstGeom prst="rect">
            <a:avLst/>
          </a:prstGeom>
        </p:spPr>
      </p:pic>
      <p:sp>
        <p:nvSpPr>
          <p:cNvPr id="16" name="Text 10"/>
          <p:cNvSpPr/>
          <p:nvPr/>
        </p:nvSpPr>
        <p:spPr>
          <a:xfrm>
            <a:off x="10828258" y="6243518"/>
            <a:ext cx="2691170" cy="315754"/>
          </a:xfrm>
          <a:prstGeom prst="rect">
            <a:avLst/>
          </a:prstGeom>
          <a:noFill/>
          <a:ln/>
        </p:spPr>
        <p:txBody>
          <a:bodyPr wrap="none" lIns="0" tIns="0" rIns="0" bIns="0" rtlCol="0" anchor="t"/>
          <a:lstStyle/>
          <a:p>
            <a:pPr algn="l" indent="0" marL="0">
              <a:lnSpc>
                <a:spcPts val="2450"/>
              </a:lnSpc>
              <a:buNone/>
            </a:pPr>
            <a:r>
              <a:rPr lang="en-US" sz="1950" b="1" spc="-40" kern="0" dirty="0">
                <a:solidFill>
                  <a:srgbClr val="E0D6DE"/>
                </a:solidFill>
                <a:latin typeface="Petrona Bold" pitchFamily="34" charset="0"/>
                <a:ea typeface="Petrona Bold" pitchFamily="34" charset="-122"/>
                <a:cs typeface="Petrona Bold" pitchFamily="34" charset="-120"/>
              </a:rPr>
              <a:t>Performance Evaluation</a:t>
            </a:r>
            <a:endParaRPr lang="en-US" sz="1950" dirty="0"/>
          </a:p>
        </p:txBody>
      </p:sp>
      <p:sp>
        <p:nvSpPr>
          <p:cNvPr id="17" name="Text 11"/>
          <p:cNvSpPr/>
          <p:nvPr/>
        </p:nvSpPr>
        <p:spPr>
          <a:xfrm>
            <a:off x="10828258" y="6674763"/>
            <a:ext cx="2935962" cy="308015"/>
          </a:xfrm>
          <a:prstGeom prst="rect">
            <a:avLst/>
          </a:prstGeom>
          <a:noFill/>
          <a:ln/>
        </p:spPr>
        <p:txBody>
          <a:bodyPr wrap="none" lIns="0" tIns="0" rIns="0" bIns="0" rtlCol="0" anchor="t"/>
          <a:lstStyle/>
          <a:p>
            <a:pPr algn="l" indent="0" marL="0">
              <a:lnSpc>
                <a:spcPts val="2400"/>
              </a:lnSpc>
              <a:buNone/>
            </a:pPr>
            <a:r>
              <a:rPr lang="en-US" sz="1500" spc="-30" kern="0" dirty="0">
                <a:solidFill>
                  <a:srgbClr val="E0D6DE"/>
                </a:solidFill>
                <a:latin typeface="Inter" pitchFamily="34" charset="0"/>
                <a:ea typeface="Inter" pitchFamily="34" charset="-122"/>
                <a:cs typeface="Inter" pitchFamily="34" charset="-120"/>
              </a:rPr>
              <a:t>Analyze accuracy metrics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8884" y="631984"/>
            <a:ext cx="10642402" cy="561499"/>
          </a:xfrm>
          <a:prstGeom prst="rect">
            <a:avLst/>
          </a:prstGeom>
          <a:noFill/>
          <a:ln/>
        </p:spPr>
        <p:txBody>
          <a:bodyPr wrap="none" lIns="0" tIns="0" rIns="0" bIns="0" rtlCol="0" anchor="t"/>
          <a:lstStyle/>
          <a:p>
            <a:pPr indent="0" marL="0">
              <a:lnSpc>
                <a:spcPts val="4400"/>
              </a:lnSpc>
              <a:buNone/>
            </a:pPr>
            <a:r>
              <a:rPr lang="en-US" sz="3500" b="1" spc="-71" kern="0" dirty="0">
                <a:solidFill>
                  <a:srgbClr val="FF8AAF"/>
                </a:solidFill>
                <a:latin typeface="Petrona Bold" pitchFamily="34" charset="0"/>
                <a:ea typeface="Petrona Bold" pitchFamily="34" charset="-122"/>
                <a:cs typeface="Petrona Bold" pitchFamily="34" charset="-120"/>
              </a:rPr>
              <a:t>Experiment 2: Adding Regularization and More Layers</a:t>
            </a:r>
            <a:endParaRPr lang="en-US" sz="3500" dirty="0"/>
          </a:p>
        </p:txBody>
      </p:sp>
      <p:sp>
        <p:nvSpPr>
          <p:cNvPr id="3" name="Text 1"/>
          <p:cNvSpPr/>
          <p:nvPr/>
        </p:nvSpPr>
        <p:spPr>
          <a:xfrm>
            <a:off x="598884" y="1535668"/>
            <a:ext cx="13432631" cy="821174"/>
          </a:xfrm>
          <a:prstGeom prst="rect">
            <a:avLst/>
          </a:prstGeom>
          <a:noFill/>
          <a:ln/>
        </p:spPr>
        <p:txBody>
          <a:bodyPr wrap="square" lIns="0" tIns="0" rIns="0" bIns="0" rtlCol="0" anchor="t"/>
          <a:lstStyle/>
          <a:p>
            <a:pPr indent="0" marL="0">
              <a:lnSpc>
                <a:spcPts val="2150"/>
              </a:lnSpc>
              <a:buNone/>
            </a:pPr>
            <a:r>
              <a:rPr lang="en-US" sz="1300" spc="-27" kern="0" dirty="0">
                <a:solidFill>
                  <a:srgbClr val="E0D6DE"/>
                </a:solidFill>
                <a:latin typeface="Inter" pitchFamily="34" charset="0"/>
                <a:ea typeface="Inter" pitchFamily="34" charset="-122"/>
                <a:cs typeface="Inter" pitchFamily="34" charset="-120"/>
              </a:rPr>
              <a:t>Building upon the insights from our initial experiment, we embarked on Experiment 2 with a focus on addressing overfitting and enhancing model complexity. We maintained DenseNet121 as our base model but introduced significant modifications to the architecture. The updated model included a Global Average Pooling 2D layer, followed by a Dense layer with 512 neurons and L2 regularization (lambda=0.0001), aimed at preventing overfitting by penalizing large weights.</a:t>
            </a:r>
            <a:endParaRPr lang="en-US" sz="1300" dirty="0"/>
          </a:p>
        </p:txBody>
      </p:sp>
      <p:sp>
        <p:nvSpPr>
          <p:cNvPr id="4" name="Text 2"/>
          <p:cNvSpPr/>
          <p:nvPr/>
        </p:nvSpPr>
        <p:spPr>
          <a:xfrm>
            <a:off x="598884" y="2549247"/>
            <a:ext cx="13432631" cy="821174"/>
          </a:xfrm>
          <a:prstGeom prst="rect">
            <a:avLst/>
          </a:prstGeom>
          <a:noFill/>
          <a:ln/>
        </p:spPr>
        <p:txBody>
          <a:bodyPr wrap="square" lIns="0" tIns="0" rIns="0" bIns="0" rtlCol="0" anchor="t"/>
          <a:lstStyle/>
          <a:p>
            <a:pPr indent="0" marL="0">
              <a:lnSpc>
                <a:spcPts val="2150"/>
              </a:lnSpc>
              <a:buNone/>
            </a:pPr>
            <a:r>
              <a:rPr lang="en-US" sz="1300" spc="-27" kern="0" dirty="0">
                <a:solidFill>
                  <a:srgbClr val="E0D6DE"/>
                </a:solidFill>
                <a:latin typeface="Inter" pitchFamily="34" charset="0"/>
                <a:ea typeface="Inter" pitchFamily="34" charset="-122"/>
                <a:cs typeface="Inter" pitchFamily="34" charset="-120"/>
              </a:rPr>
              <a:t>We further refined the architecture by adding a Dense layer with 128 neurons, followed by a Dropout layer (20%), and a final Dense layer with 32 neurons before the Sigmoid output. This experiment utilized TensorFlow 2.10, maintaining the same training configuration as before. Interestingly, the training process stopped early at the 18th epoch due to the EarlyStopping callback, indicating potential optimization in training duration.</a:t>
            </a:r>
            <a:endParaRPr lang="en-US" sz="1300" dirty="0"/>
          </a:p>
        </p:txBody>
      </p:sp>
      <p:sp>
        <p:nvSpPr>
          <p:cNvPr id="5" name="Text 3"/>
          <p:cNvSpPr/>
          <p:nvPr/>
        </p:nvSpPr>
        <p:spPr>
          <a:xfrm>
            <a:off x="598884" y="3562826"/>
            <a:ext cx="13432631" cy="1094899"/>
          </a:xfrm>
          <a:prstGeom prst="rect">
            <a:avLst/>
          </a:prstGeom>
          <a:noFill/>
          <a:ln/>
        </p:spPr>
        <p:txBody>
          <a:bodyPr wrap="square" lIns="0" tIns="0" rIns="0" bIns="0" rtlCol="0" anchor="t"/>
          <a:lstStyle/>
          <a:p>
            <a:pPr indent="0" marL="0">
              <a:lnSpc>
                <a:spcPts val="2150"/>
              </a:lnSpc>
              <a:buNone/>
            </a:pPr>
            <a:r>
              <a:rPr lang="en-US" sz="1300" spc="-27" kern="0" dirty="0">
                <a:solidFill>
                  <a:srgbClr val="E0D6DE"/>
                </a:solidFill>
                <a:latin typeface="Inter" pitchFamily="34" charset="0"/>
                <a:ea typeface="Inter" pitchFamily="34" charset="-122"/>
                <a:cs typeface="Inter" pitchFamily="34" charset="-120"/>
              </a:rPr>
              <a:t>The results showed notable improvements, with training accuracy increasing to 82% and validation accuracy to 76%. Test accuracy also improved to 76%, while unseen data accuracy reached an impressive 80%. However, we encountered a new challenge: predictions on app testing data were biased towards the "Good" class. We hypothesized that this bias might be due to the lack of segmented group fish images in our training data, prompting further investigation and dataset refinement in subsequent experiments.</a:t>
            </a:r>
            <a:endParaRPr lang="en-US" sz="1300" dirty="0"/>
          </a:p>
        </p:txBody>
      </p:sp>
      <p:sp>
        <p:nvSpPr>
          <p:cNvPr id="6" name="Shape 4"/>
          <p:cNvSpPr/>
          <p:nvPr/>
        </p:nvSpPr>
        <p:spPr>
          <a:xfrm>
            <a:off x="598884" y="4850130"/>
            <a:ext cx="6630829" cy="1288137"/>
          </a:xfrm>
          <a:prstGeom prst="roundRect">
            <a:avLst>
              <a:gd name="adj" fmla="val 5579"/>
            </a:avLst>
          </a:prstGeom>
          <a:solidFill>
            <a:srgbClr val="2F1D63"/>
          </a:solidFill>
          <a:ln w="7620">
            <a:solidFill>
              <a:srgbClr val="48367C"/>
            </a:solidFill>
            <a:prstDash val="solid"/>
          </a:ln>
        </p:spPr>
      </p:sp>
      <p:sp>
        <p:nvSpPr>
          <p:cNvPr id="7" name="Text 5"/>
          <p:cNvSpPr/>
          <p:nvPr/>
        </p:nvSpPr>
        <p:spPr>
          <a:xfrm>
            <a:off x="777597" y="5028843"/>
            <a:ext cx="2245876" cy="280630"/>
          </a:xfrm>
          <a:prstGeom prst="rect">
            <a:avLst/>
          </a:prstGeom>
          <a:noFill/>
          <a:ln/>
        </p:spPr>
        <p:txBody>
          <a:bodyPr wrap="none" lIns="0" tIns="0" rIns="0" bIns="0" rtlCol="0" anchor="t"/>
          <a:lstStyle/>
          <a:p>
            <a:pPr indent="0" marL="0">
              <a:lnSpc>
                <a:spcPts val="2200"/>
              </a:lnSpc>
              <a:buNone/>
            </a:pPr>
            <a:r>
              <a:rPr lang="en-US" sz="1750" b="1" spc="-35" kern="0" dirty="0">
                <a:solidFill>
                  <a:srgbClr val="E0D6DE"/>
                </a:solidFill>
                <a:latin typeface="Petrona Bold" pitchFamily="34" charset="0"/>
                <a:ea typeface="Petrona Bold" pitchFamily="34" charset="-122"/>
                <a:cs typeface="Petrona Bold" pitchFamily="34" charset="-120"/>
              </a:rPr>
              <a:t>Architectural Changes</a:t>
            </a:r>
            <a:endParaRPr lang="en-US" sz="1750" dirty="0"/>
          </a:p>
        </p:txBody>
      </p:sp>
      <p:sp>
        <p:nvSpPr>
          <p:cNvPr id="8" name="Text 6"/>
          <p:cNvSpPr/>
          <p:nvPr/>
        </p:nvSpPr>
        <p:spPr>
          <a:xfrm>
            <a:off x="777597" y="5412105"/>
            <a:ext cx="6273403" cy="547449"/>
          </a:xfrm>
          <a:prstGeom prst="rect">
            <a:avLst/>
          </a:prstGeom>
          <a:noFill/>
          <a:ln/>
        </p:spPr>
        <p:txBody>
          <a:bodyPr wrap="square" lIns="0" tIns="0" rIns="0" bIns="0" rtlCol="0" anchor="t"/>
          <a:lstStyle/>
          <a:p>
            <a:pPr indent="0" marL="0">
              <a:lnSpc>
                <a:spcPts val="2150"/>
              </a:lnSpc>
              <a:buNone/>
            </a:pPr>
            <a:r>
              <a:rPr lang="en-US" sz="1300" spc="-27" kern="0" dirty="0">
                <a:solidFill>
                  <a:srgbClr val="E0D6DE"/>
                </a:solidFill>
                <a:latin typeface="Inter" pitchFamily="34" charset="0"/>
                <a:ea typeface="Inter" pitchFamily="34" charset="-122"/>
                <a:cs typeface="Inter" pitchFamily="34" charset="-120"/>
              </a:rPr>
              <a:t>Added L2 regularization and increased neuron count in Dense layers to enhance model complexity and reduce overfitting.</a:t>
            </a:r>
            <a:endParaRPr lang="en-US" sz="1300" dirty="0"/>
          </a:p>
        </p:txBody>
      </p:sp>
      <p:sp>
        <p:nvSpPr>
          <p:cNvPr id="9" name="Shape 7"/>
          <p:cNvSpPr/>
          <p:nvPr/>
        </p:nvSpPr>
        <p:spPr>
          <a:xfrm>
            <a:off x="7400806" y="4850130"/>
            <a:ext cx="6630829" cy="1288137"/>
          </a:xfrm>
          <a:prstGeom prst="roundRect">
            <a:avLst>
              <a:gd name="adj" fmla="val 5579"/>
            </a:avLst>
          </a:prstGeom>
          <a:solidFill>
            <a:srgbClr val="2F1D63"/>
          </a:solidFill>
          <a:ln w="7620">
            <a:solidFill>
              <a:srgbClr val="48367C"/>
            </a:solidFill>
            <a:prstDash val="solid"/>
          </a:ln>
        </p:spPr>
      </p:sp>
      <p:sp>
        <p:nvSpPr>
          <p:cNvPr id="10" name="Text 8"/>
          <p:cNvSpPr/>
          <p:nvPr/>
        </p:nvSpPr>
        <p:spPr>
          <a:xfrm>
            <a:off x="7579519" y="5028843"/>
            <a:ext cx="2678073" cy="280630"/>
          </a:xfrm>
          <a:prstGeom prst="rect">
            <a:avLst/>
          </a:prstGeom>
          <a:noFill/>
          <a:ln/>
        </p:spPr>
        <p:txBody>
          <a:bodyPr wrap="none" lIns="0" tIns="0" rIns="0" bIns="0" rtlCol="0" anchor="t"/>
          <a:lstStyle/>
          <a:p>
            <a:pPr indent="0" marL="0">
              <a:lnSpc>
                <a:spcPts val="2200"/>
              </a:lnSpc>
              <a:buNone/>
            </a:pPr>
            <a:r>
              <a:rPr lang="en-US" sz="1750" b="1" spc="-35" kern="0" dirty="0">
                <a:solidFill>
                  <a:srgbClr val="E0D6DE"/>
                </a:solidFill>
                <a:latin typeface="Petrona Bold" pitchFamily="34" charset="0"/>
                <a:ea typeface="Petrona Bold" pitchFamily="34" charset="-122"/>
                <a:cs typeface="Petrona Bold" pitchFamily="34" charset="-120"/>
              </a:rPr>
              <a:t>Performance Improvement</a:t>
            </a:r>
            <a:endParaRPr lang="en-US" sz="1750" dirty="0"/>
          </a:p>
        </p:txBody>
      </p:sp>
      <p:sp>
        <p:nvSpPr>
          <p:cNvPr id="11" name="Text 9"/>
          <p:cNvSpPr/>
          <p:nvPr/>
        </p:nvSpPr>
        <p:spPr>
          <a:xfrm>
            <a:off x="7579519" y="5412105"/>
            <a:ext cx="6273403" cy="547449"/>
          </a:xfrm>
          <a:prstGeom prst="rect">
            <a:avLst/>
          </a:prstGeom>
          <a:noFill/>
          <a:ln/>
        </p:spPr>
        <p:txBody>
          <a:bodyPr wrap="square" lIns="0" tIns="0" rIns="0" bIns="0" rtlCol="0" anchor="t"/>
          <a:lstStyle/>
          <a:p>
            <a:pPr indent="0" marL="0">
              <a:lnSpc>
                <a:spcPts val="2150"/>
              </a:lnSpc>
              <a:buNone/>
            </a:pPr>
            <a:r>
              <a:rPr lang="en-US" sz="1300" spc="-27" kern="0" dirty="0">
                <a:solidFill>
                  <a:srgbClr val="E0D6DE"/>
                </a:solidFill>
                <a:latin typeface="Inter" pitchFamily="34" charset="0"/>
                <a:ea typeface="Inter" pitchFamily="34" charset="-122"/>
                <a:cs typeface="Inter" pitchFamily="34" charset="-120"/>
              </a:rPr>
              <a:t>Observed significant increases in accuracy across training, validation, and test sets, indicating better generalization.</a:t>
            </a:r>
            <a:endParaRPr lang="en-US" sz="1300" dirty="0"/>
          </a:p>
        </p:txBody>
      </p:sp>
      <p:sp>
        <p:nvSpPr>
          <p:cNvPr id="12" name="Shape 10"/>
          <p:cNvSpPr/>
          <p:nvPr/>
        </p:nvSpPr>
        <p:spPr>
          <a:xfrm>
            <a:off x="598884" y="6309360"/>
            <a:ext cx="6630829" cy="1288137"/>
          </a:xfrm>
          <a:prstGeom prst="roundRect">
            <a:avLst>
              <a:gd name="adj" fmla="val 5579"/>
            </a:avLst>
          </a:prstGeom>
          <a:solidFill>
            <a:srgbClr val="2F1D63"/>
          </a:solidFill>
          <a:ln w="7620">
            <a:solidFill>
              <a:srgbClr val="48367C"/>
            </a:solidFill>
            <a:prstDash val="solid"/>
          </a:ln>
        </p:spPr>
      </p:sp>
      <p:sp>
        <p:nvSpPr>
          <p:cNvPr id="13" name="Text 11"/>
          <p:cNvSpPr/>
          <p:nvPr/>
        </p:nvSpPr>
        <p:spPr>
          <a:xfrm>
            <a:off x="777597" y="6488073"/>
            <a:ext cx="2245876" cy="280630"/>
          </a:xfrm>
          <a:prstGeom prst="rect">
            <a:avLst/>
          </a:prstGeom>
          <a:noFill/>
          <a:ln/>
        </p:spPr>
        <p:txBody>
          <a:bodyPr wrap="none" lIns="0" tIns="0" rIns="0" bIns="0" rtlCol="0" anchor="t"/>
          <a:lstStyle/>
          <a:p>
            <a:pPr indent="0" marL="0">
              <a:lnSpc>
                <a:spcPts val="2200"/>
              </a:lnSpc>
              <a:buNone/>
            </a:pPr>
            <a:r>
              <a:rPr lang="en-US" sz="1750" b="1" spc="-35" kern="0" dirty="0">
                <a:solidFill>
                  <a:srgbClr val="E0D6DE"/>
                </a:solidFill>
                <a:latin typeface="Petrona Bold" pitchFamily="34" charset="0"/>
                <a:ea typeface="Petrona Bold" pitchFamily="34" charset="-122"/>
                <a:cs typeface="Petrona Bold" pitchFamily="34" charset="-120"/>
              </a:rPr>
              <a:t>Early Stopping</a:t>
            </a:r>
            <a:endParaRPr lang="en-US" sz="1750" dirty="0"/>
          </a:p>
        </p:txBody>
      </p:sp>
      <p:sp>
        <p:nvSpPr>
          <p:cNvPr id="14" name="Text 12"/>
          <p:cNvSpPr/>
          <p:nvPr/>
        </p:nvSpPr>
        <p:spPr>
          <a:xfrm>
            <a:off x="777597" y="6871335"/>
            <a:ext cx="6273403" cy="547449"/>
          </a:xfrm>
          <a:prstGeom prst="rect">
            <a:avLst/>
          </a:prstGeom>
          <a:noFill/>
          <a:ln/>
        </p:spPr>
        <p:txBody>
          <a:bodyPr wrap="square" lIns="0" tIns="0" rIns="0" bIns="0" rtlCol="0" anchor="t"/>
          <a:lstStyle/>
          <a:p>
            <a:pPr indent="0" marL="0">
              <a:lnSpc>
                <a:spcPts val="2150"/>
              </a:lnSpc>
              <a:buNone/>
            </a:pPr>
            <a:r>
              <a:rPr lang="en-US" sz="1300" spc="-27" kern="0" dirty="0">
                <a:solidFill>
                  <a:srgbClr val="E0D6DE"/>
                </a:solidFill>
                <a:latin typeface="Inter" pitchFamily="34" charset="0"/>
                <a:ea typeface="Inter" pitchFamily="34" charset="-122"/>
                <a:cs typeface="Inter" pitchFamily="34" charset="-120"/>
              </a:rPr>
              <a:t>Training stopped at epoch 18 due to EarlyStopping callback, suggesting optimal convergence point reached earlier than expected.</a:t>
            </a:r>
            <a:endParaRPr lang="en-US" sz="1300" dirty="0"/>
          </a:p>
        </p:txBody>
      </p:sp>
      <p:sp>
        <p:nvSpPr>
          <p:cNvPr id="15" name="Shape 13"/>
          <p:cNvSpPr/>
          <p:nvPr/>
        </p:nvSpPr>
        <p:spPr>
          <a:xfrm>
            <a:off x="7400806" y="6309360"/>
            <a:ext cx="6630829" cy="1288137"/>
          </a:xfrm>
          <a:prstGeom prst="roundRect">
            <a:avLst>
              <a:gd name="adj" fmla="val 5579"/>
            </a:avLst>
          </a:prstGeom>
          <a:solidFill>
            <a:srgbClr val="2F1D63"/>
          </a:solidFill>
          <a:ln w="7620">
            <a:solidFill>
              <a:srgbClr val="48367C"/>
            </a:solidFill>
            <a:prstDash val="solid"/>
          </a:ln>
        </p:spPr>
      </p:sp>
      <p:sp>
        <p:nvSpPr>
          <p:cNvPr id="16" name="Text 14"/>
          <p:cNvSpPr/>
          <p:nvPr/>
        </p:nvSpPr>
        <p:spPr>
          <a:xfrm>
            <a:off x="7579519" y="6488073"/>
            <a:ext cx="2495669" cy="280630"/>
          </a:xfrm>
          <a:prstGeom prst="rect">
            <a:avLst/>
          </a:prstGeom>
          <a:noFill/>
          <a:ln/>
        </p:spPr>
        <p:txBody>
          <a:bodyPr wrap="none" lIns="0" tIns="0" rIns="0" bIns="0" rtlCol="0" anchor="t"/>
          <a:lstStyle/>
          <a:p>
            <a:pPr indent="0" marL="0">
              <a:lnSpc>
                <a:spcPts val="2200"/>
              </a:lnSpc>
              <a:buNone/>
            </a:pPr>
            <a:r>
              <a:rPr lang="en-US" sz="1750" b="1" spc="-35" kern="0" dirty="0">
                <a:solidFill>
                  <a:srgbClr val="E0D6DE"/>
                </a:solidFill>
                <a:latin typeface="Petrona Bold" pitchFamily="34" charset="0"/>
                <a:ea typeface="Petrona Bold" pitchFamily="34" charset="-122"/>
                <a:cs typeface="Petrona Bold" pitchFamily="34" charset="-120"/>
              </a:rPr>
              <a:t>New Challenge Identified</a:t>
            </a:r>
            <a:endParaRPr lang="en-US" sz="1750" dirty="0"/>
          </a:p>
        </p:txBody>
      </p:sp>
      <p:sp>
        <p:nvSpPr>
          <p:cNvPr id="17" name="Text 15"/>
          <p:cNvSpPr/>
          <p:nvPr/>
        </p:nvSpPr>
        <p:spPr>
          <a:xfrm>
            <a:off x="7579519" y="6871335"/>
            <a:ext cx="6273403" cy="547449"/>
          </a:xfrm>
          <a:prstGeom prst="rect">
            <a:avLst/>
          </a:prstGeom>
          <a:noFill/>
          <a:ln/>
        </p:spPr>
        <p:txBody>
          <a:bodyPr wrap="square" lIns="0" tIns="0" rIns="0" bIns="0" rtlCol="0" anchor="t"/>
          <a:lstStyle/>
          <a:p>
            <a:pPr indent="0" marL="0">
              <a:lnSpc>
                <a:spcPts val="2150"/>
              </a:lnSpc>
              <a:buNone/>
            </a:pPr>
            <a:r>
              <a:rPr lang="en-US" sz="1300" spc="-27" kern="0" dirty="0">
                <a:solidFill>
                  <a:srgbClr val="E0D6DE"/>
                </a:solidFill>
                <a:latin typeface="Inter" pitchFamily="34" charset="0"/>
                <a:ea typeface="Inter" pitchFamily="34" charset="-122"/>
                <a:cs typeface="Inter" pitchFamily="34" charset="-120"/>
              </a:rPr>
              <a:t>Discovered bias towards "Good" class in app testing data, highlighting the need for more diverse training samples.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72227" y="735449"/>
            <a:ext cx="7399734" cy="630198"/>
          </a:xfrm>
          <a:prstGeom prst="rect">
            <a:avLst/>
          </a:prstGeom>
          <a:noFill/>
          <a:ln/>
        </p:spPr>
        <p:txBody>
          <a:bodyPr wrap="none" lIns="0" tIns="0" rIns="0" bIns="0" rtlCol="0" anchor="t"/>
          <a:lstStyle/>
          <a:p>
            <a:pPr indent="0" marL="0">
              <a:lnSpc>
                <a:spcPts val="4950"/>
              </a:lnSpc>
              <a:buNone/>
            </a:pPr>
            <a:r>
              <a:rPr lang="en-US" sz="3950" b="1" spc="-79" kern="0" dirty="0">
                <a:solidFill>
                  <a:srgbClr val="FF8AAF"/>
                </a:solidFill>
                <a:latin typeface="Petrona Bold" pitchFamily="34" charset="0"/>
                <a:ea typeface="Petrona Bold" pitchFamily="34" charset="-122"/>
                <a:cs typeface="Petrona Bold" pitchFamily="34" charset="-120"/>
              </a:rPr>
              <a:t>Experiment 3: Increased Neurons</a:t>
            </a:r>
            <a:endParaRPr lang="en-US" sz="3950" dirty="0"/>
          </a:p>
        </p:txBody>
      </p:sp>
      <p:sp>
        <p:nvSpPr>
          <p:cNvPr id="3" name="Text 1"/>
          <p:cNvSpPr/>
          <p:nvPr/>
        </p:nvSpPr>
        <p:spPr>
          <a:xfrm>
            <a:off x="672227" y="1749742"/>
            <a:ext cx="13285946" cy="921544"/>
          </a:xfrm>
          <a:prstGeom prst="rect">
            <a:avLst/>
          </a:prstGeom>
          <a:noFill/>
          <a:ln/>
        </p:spPr>
        <p:txBody>
          <a:bodyPr wrap="square" lIns="0" tIns="0" rIns="0" bIns="0" rtlCol="0" anchor="t"/>
          <a:lstStyle/>
          <a:p>
            <a:pPr indent="0" marL="0">
              <a:lnSpc>
                <a:spcPts val="2400"/>
              </a:lnSpc>
              <a:buNone/>
            </a:pPr>
            <a:r>
              <a:rPr lang="en-US" sz="1500" spc="-30" kern="0" dirty="0">
                <a:solidFill>
                  <a:srgbClr val="E0D6DE"/>
                </a:solidFill>
                <a:latin typeface="Inter" pitchFamily="34" charset="0"/>
                <a:ea typeface="Inter" pitchFamily="34" charset="-122"/>
                <a:cs typeface="Inter" pitchFamily="34" charset="-120"/>
              </a:rPr>
              <a:t>In our pursuit of optimal model architecture, Experiment 3 focused on increasing the neuron count in our dense layers. We maintained DenseNet121 as our base model and kept the overall structure similar to Experiment 2, but with key modifications to the dense layers. The updated architecture included a Global Average Pooling 2D layer, followed by a Dense layer with 512 neurons and L2 regularization, mirroring our previous setup.</a:t>
            </a:r>
            <a:endParaRPr lang="en-US" sz="1500" dirty="0"/>
          </a:p>
        </p:txBody>
      </p:sp>
      <p:sp>
        <p:nvSpPr>
          <p:cNvPr id="4" name="Text 2"/>
          <p:cNvSpPr/>
          <p:nvPr/>
        </p:nvSpPr>
        <p:spPr>
          <a:xfrm>
            <a:off x="672227" y="2887385"/>
            <a:ext cx="13285946" cy="921544"/>
          </a:xfrm>
          <a:prstGeom prst="rect">
            <a:avLst/>
          </a:prstGeom>
          <a:noFill/>
          <a:ln/>
        </p:spPr>
        <p:txBody>
          <a:bodyPr wrap="square" lIns="0" tIns="0" rIns="0" bIns="0" rtlCol="0" anchor="t"/>
          <a:lstStyle/>
          <a:p>
            <a:pPr indent="0" marL="0">
              <a:lnSpc>
                <a:spcPts val="2400"/>
              </a:lnSpc>
              <a:buNone/>
            </a:pPr>
            <a:r>
              <a:rPr lang="en-US" sz="1500" spc="-30" kern="0" dirty="0">
                <a:solidFill>
                  <a:srgbClr val="E0D6DE"/>
                </a:solidFill>
                <a:latin typeface="Inter" pitchFamily="34" charset="0"/>
                <a:ea typeface="Inter" pitchFamily="34" charset="-122"/>
                <a:cs typeface="Inter" pitchFamily="34" charset="-120"/>
              </a:rPr>
              <a:t>The significant change came in the subsequent layers. We increased the neuron count in the second Dense layer from 128 to 256, aiming to capture more complex features and relationships within the data. This was followed by the same Dropout layer (20%) and a final Dense layer with 32 neurons before the Sigmoid output. We continued to use TensorFlow 2.10 for this experiment, maintaining consistency in our development environment.</a:t>
            </a:r>
            <a:endParaRPr lang="en-US" sz="1500" dirty="0"/>
          </a:p>
        </p:txBody>
      </p:sp>
      <p:sp>
        <p:nvSpPr>
          <p:cNvPr id="5" name="Text 3"/>
          <p:cNvSpPr/>
          <p:nvPr/>
        </p:nvSpPr>
        <p:spPr>
          <a:xfrm>
            <a:off x="672227" y="4025027"/>
            <a:ext cx="13285946" cy="1228725"/>
          </a:xfrm>
          <a:prstGeom prst="rect">
            <a:avLst/>
          </a:prstGeom>
          <a:noFill/>
          <a:ln/>
        </p:spPr>
        <p:txBody>
          <a:bodyPr wrap="square" lIns="0" tIns="0" rIns="0" bIns="0" rtlCol="0" anchor="t"/>
          <a:lstStyle/>
          <a:p>
            <a:pPr indent="0" marL="0">
              <a:lnSpc>
                <a:spcPts val="2400"/>
              </a:lnSpc>
              <a:buNone/>
            </a:pPr>
            <a:r>
              <a:rPr lang="en-US" sz="1500" spc="-30" kern="0" dirty="0">
                <a:solidFill>
                  <a:srgbClr val="E0D6DE"/>
                </a:solidFill>
                <a:latin typeface="Inter" pitchFamily="34" charset="0"/>
                <a:ea typeface="Inter" pitchFamily="34" charset="-122"/>
                <a:cs typeface="Inter" pitchFamily="34" charset="-120"/>
              </a:rPr>
              <a:t>Despite these architectural changes, the results of Experiment 3 were somewhat underwhelming. We observed similar performance metrics to Experiment 2, with no significant improvements in training or validation accuracy. This outcome suggested that simply increasing the number of neurons was not sufficient to overcome the challenges we faced, particularly the bias towards the "Good" class in app testing data. These findings prompted us to explore more sophisticated techniques in subsequent experiments, focusing on data augmentation and advanced regularization methods.</a:t>
            </a:r>
            <a:endParaRPr lang="en-US" sz="1500" dirty="0"/>
          </a:p>
        </p:txBody>
      </p:sp>
      <p:pic>
        <p:nvPicPr>
          <p:cNvPr id="6" name="Image 0" descr="preencoded.png">    </p:cNvPr>
          <p:cNvPicPr>
            <a:picLocks noChangeAspect="1"/>
          </p:cNvPicPr>
          <p:nvPr/>
        </p:nvPicPr>
        <p:blipFill>
          <a:blip r:embed="rId1"/>
          <a:stretch>
            <a:fillRect/>
          </a:stretch>
        </p:blipFill>
        <p:spPr>
          <a:xfrm>
            <a:off x="672227" y="5469850"/>
            <a:ext cx="480179" cy="480179"/>
          </a:xfrm>
          <a:prstGeom prst="rect">
            <a:avLst/>
          </a:prstGeom>
        </p:spPr>
      </p:pic>
      <p:sp>
        <p:nvSpPr>
          <p:cNvPr id="7" name="Text 4"/>
          <p:cNvSpPr/>
          <p:nvPr/>
        </p:nvSpPr>
        <p:spPr>
          <a:xfrm>
            <a:off x="672227" y="6142077"/>
            <a:ext cx="2521268" cy="315158"/>
          </a:xfrm>
          <a:prstGeom prst="rect">
            <a:avLst/>
          </a:prstGeom>
          <a:noFill/>
          <a:ln/>
        </p:spPr>
        <p:txBody>
          <a:bodyPr wrap="none" lIns="0" tIns="0" rIns="0" bIns="0" rtlCol="0" anchor="t"/>
          <a:lstStyle/>
          <a:p>
            <a:pPr algn="l" indent="0" marL="0">
              <a:lnSpc>
                <a:spcPts val="2450"/>
              </a:lnSpc>
              <a:buNone/>
            </a:pPr>
            <a:r>
              <a:rPr lang="en-US" sz="1950" b="1" spc="-40" kern="0" dirty="0">
                <a:solidFill>
                  <a:srgbClr val="E0D6DE"/>
                </a:solidFill>
                <a:latin typeface="Petrona Bold" pitchFamily="34" charset="0"/>
                <a:ea typeface="Petrona Bold" pitchFamily="34" charset="-122"/>
                <a:cs typeface="Petrona Bold" pitchFamily="34" charset="-120"/>
              </a:rPr>
              <a:t>Increased Neurons</a:t>
            </a:r>
            <a:endParaRPr lang="en-US" sz="1950" dirty="0"/>
          </a:p>
        </p:txBody>
      </p:sp>
      <p:sp>
        <p:nvSpPr>
          <p:cNvPr id="8" name="Text 5"/>
          <p:cNvSpPr/>
          <p:nvPr/>
        </p:nvSpPr>
        <p:spPr>
          <a:xfrm>
            <a:off x="672227" y="6572488"/>
            <a:ext cx="3105388" cy="921544"/>
          </a:xfrm>
          <a:prstGeom prst="rect">
            <a:avLst/>
          </a:prstGeom>
          <a:noFill/>
          <a:ln/>
        </p:spPr>
        <p:txBody>
          <a:bodyPr wrap="square" lIns="0" tIns="0" rIns="0" bIns="0" rtlCol="0" anchor="t"/>
          <a:lstStyle/>
          <a:p>
            <a:pPr algn="l" indent="0" marL="0">
              <a:lnSpc>
                <a:spcPts val="2400"/>
              </a:lnSpc>
              <a:buNone/>
            </a:pPr>
            <a:r>
              <a:rPr lang="en-US" sz="1500" spc="-30" kern="0" dirty="0">
                <a:solidFill>
                  <a:srgbClr val="E0D6DE"/>
                </a:solidFill>
                <a:latin typeface="Inter" pitchFamily="34" charset="0"/>
                <a:ea typeface="Inter" pitchFamily="34" charset="-122"/>
                <a:cs typeface="Inter" pitchFamily="34" charset="-120"/>
              </a:rPr>
              <a:t>Expanded middle Dense layer to 256 neurons for more complex feature capture</a:t>
            </a:r>
            <a:endParaRPr lang="en-US" sz="1500" dirty="0"/>
          </a:p>
        </p:txBody>
      </p:sp>
      <p:pic>
        <p:nvPicPr>
          <p:cNvPr id="9" name="Image 1" descr="preencoded.png">    </p:cNvPr>
          <p:cNvPicPr>
            <a:picLocks noChangeAspect="1"/>
          </p:cNvPicPr>
          <p:nvPr/>
        </p:nvPicPr>
        <p:blipFill>
          <a:blip r:embed="rId2"/>
          <a:stretch>
            <a:fillRect/>
          </a:stretch>
        </p:blipFill>
        <p:spPr>
          <a:xfrm>
            <a:off x="4065746" y="5469850"/>
            <a:ext cx="480179" cy="480179"/>
          </a:xfrm>
          <a:prstGeom prst="rect">
            <a:avLst/>
          </a:prstGeom>
        </p:spPr>
      </p:pic>
      <p:sp>
        <p:nvSpPr>
          <p:cNvPr id="10" name="Text 6"/>
          <p:cNvSpPr/>
          <p:nvPr/>
        </p:nvSpPr>
        <p:spPr>
          <a:xfrm>
            <a:off x="4065746" y="6142077"/>
            <a:ext cx="2521268" cy="315158"/>
          </a:xfrm>
          <a:prstGeom prst="rect">
            <a:avLst/>
          </a:prstGeom>
          <a:noFill/>
          <a:ln/>
        </p:spPr>
        <p:txBody>
          <a:bodyPr wrap="none" lIns="0" tIns="0" rIns="0" bIns="0" rtlCol="0" anchor="t"/>
          <a:lstStyle/>
          <a:p>
            <a:pPr algn="l" indent="0" marL="0">
              <a:lnSpc>
                <a:spcPts val="2450"/>
              </a:lnSpc>
              <a:buNone/>
            </a:pPr>
            <a:r>
              <a:rPr lang="en-US" sz="1950" b="1" spc="-40" kern="0" dirty="0">
                <a:solidFill>
                  <a:srgbClr val="E0D6DE"/>
                </a:solidFill>
                <a:latin typeface="Petrona Bold" pitchFamily="34" charset="0"/>
                <a:ea typeface="Petrona Bold" pitchFamily="34" charset="-122"/>
                <a:cs typeface="Petrona Bold" pitchFamily="34" charset="-120"/>
              </a:rPr>
              <a:t>Similar Performance</a:t>
            </a:r>
            <a:endParaRPr lang="en-US" sz="1950" dirty="0"/>
          </a:p>
        </p:txBody>
      </p:sp>
      <p:sp>
        <p:nvSpPr>
          <p:cNvPr id="11" name="Text 7"/>
          <p:cNvSpPr/>
          <p:nvPr/>
        </p:nvSpPr>
        <p:spPr>
          <a:xfrm>
            <a:off x="4065746" y="6572488"/>
            <a:ext cx="3105388" cy="921544"/>
          </a:xfrm>
          <a:prstGeom prst="rect">
            <a:avLst/>
          </a:prstGeom>
          <a:noFill/>
          <a:ln/>
        </p:spPr>
        <p:txBody>
          <a:bodyPr wrap="square" lIns="0" tIns="0" rIns="0" bIns="0" rtlCol="0" anchor="t"/>
          <a:lstStyle/>
          <a:p>
            <a:pPr algn="l" indent="0" marL="0">
              <a:lnSpc>
                <a:spcPts val="2400"/>
              </a:lnSpc>
              <a:buNone/>
            </a:pPr>
            <a:r>
              <a:rPr lang="en-US" sz="1500" spc="-30" kern="0" dirty="0">
                <a:solidFill>
                  <a:srgbClr val="E0D6DE"/>
                </a:solidFill>
                <a:latin typeface="Inter" pitchFamily="34" charset="0"/>
                <a:ea typeface="Inter" pitchFamily="34" charset="-122"/>
                <a:cs typeface="Inter" pitchFamily="34" charset="-120"/>
              </a:rPr>
              <a:t>No significant improvement in accuracy metrics compared to previous experiment</a:t>
            </a:r>
            <a:endParaRPr lang="en-US" sz="1500" dirty="0"/>
          </a:p>
        </p:txBody>
      </p:sp>
      <p:pic>
        <p:nvPicPr>
          <p:cNvPr id="12" name="Image 2" descr="preencoded.png">    </p:cNvPr>
          <p:cNvPicPr>
            <a:picLocks noChangeAspect="1"/>
          </p:cNvPicPr>
          <p:nvPr/>
        </p:nvPicPr>
        <p:blipFill>
          <a:blip r:embed="rId3"/>
          <a:stretch>
            <a:fillRect/>
          </a:stretch>
        </p:blipFill>
        <p:spPr>
          <a:xfrm>
            <a:off x="7459266" y="5469850"/>
            <a:ext cx="480179" cy="480179"/>
          </a:xfrm>
          <a:prstGeom prst="rect">
            <a:avLst/>
          </a:prstGeom>
        </p:spPr>
      </p:pic>
      <p:sp>
        <p:nvSpPr>
          <p:cNvPr id="13" name="Text 8"/>
          <p:cNvSpPr/>
          <p:nvPr/>
        </p:nvSpPr>
        <p:spPr>
          <a:xfrm>
            <a:off x="7459266" y="6142077"/>
            <a:ext cx="2521268" cy="315158"/>
          </a:xfrm>
          <a:prstGeom prst="rect">
            <a:avLst/>
          </a:prstGeom>
          <a:noFill/>
          <a:ln/>
        </p:spPr>
        <p:txBody>
          <a:bodyPr wrap="none" lIns="0" tIns="0" rIns="0" bIns="0" rtlCol="0" anchor="t"/>
          <a:lstStyle/>
          <a:p>
            <a:pPr algn="l" indent="0" marL="0">
              <a:lnSpc>
                <a:spcPts val="2450"/>
              </a:lnSpc>
              <a:buNone/>
            </a:pPr>
            <a:r>
              <a:rPr lang="en-US" sz="1950" b="1" spc="-40" kern="0" dirty="0">
                <a:solidFill>
                  <a:srgbClr val="E0D6DE"/>
                </a:solidFill>
                <a:latin typeface="Petrona Bold" pitchFamily="34" charset="0"/>
                <a:ea typeface="Petrona Bold" pitchFamily="34" charset="-122"/>
                <a:cs typeface="Petrona Bold" pitchFamily="34" charset="-120"/>
              </a:rPr>
              <a:t>New Insights</a:t>
            </a:r>
            <a:endParaRPr lang="en-US" sz="1950" dirty="0"/>
          </a:p>
        </p:txBody>
      </p:sp>
      <p:sp>
        <p:nvSpPr>
          <p:cNvPr id="14" name="Text 9"/>
          <p:cNvSpPr/>
          <p:nvPr/>
        </p:nvSpPr>
        <p:spPr>
          <a:xfrm>
            <a:off x="7459266" y="6572488"/>
            <a:ext cx="3105388" cy="921544"/>
          </a:xfrm>
          <a:prstGeom prst="rect">
            <a:avLst/>
          </a:prstGeom>
          <a:noFill/>
          <a:ln/>
        </p:spPr>
        <p:txBody>
          <a:bodyPr wrap="square" lIns="0" tIns="0" rIns="0" bIns="0" rtlCol="0" anchor="t"/>
          <a:lstStyle/>
          <a:p>
            <a:pPr algn="l" indent="0" marL="0">
              <a:lnSpc>
                <a:spcPts val="2400"/>
              </a:lnSpc>
              <a:buNone/>
            </a:pPr>
            <a:r>
              <a:rPr lang="en-US" sz="1500" spc="-30" kern="0" dirty="0">
                <a:solidFill>
                  <a:srgbClr val="E0D6DE"/>
                </a:solidFill>
                <a:latin typeface="Inter" pitchFamily="34" charset="0"/>
                <a:ea typeface="Inter" pitchFamily="34" charset="-122"/>
                <a:cs typeface="Inter" pitchFamily="34" charset="-120"/>
              </a:rPr>
              <a:t>Realized need for more sophisticated approaches beyond neuron count increase</a:t>
            </a:r>
            <a:endParaRPr lang="en-US" sz="1500" dirty="0"/>
          </a:p>
        </p:txBody>
      </p:sp>
      <p:pic>
        <p:nvPicPr>
          <p:cNvPr id="15" name="Image 3" descr="preencoded.png">    </p:cNvPr>
          <p:cNvPicPr>
            <a:picLocks noChangeAspect="1"/>
          </p:cNvPicPr>
          <p:nvPr/>
        </p:nvPicPr>
        <p:blipFill>
          <a:blip r:embed="rId4"/>
          <a:stretch>
            <a:fillRect/>
          </a:stretch>
        </p:blipFill>
        <p:spPr>
          <a:xfrm>
            <a:off x="10852785" y="5469850"/>
            <a:ext cx="480179" cy="480179"/>
          </a:xfrm>
          <a:prstGeom prst="rect">
            <a:avLst/>
          </a:prstGeom>
        </p:spPr>
      </p:pic>
      <p:sp>
        <p:nvSpPr>
          <p:cNvPr id="16" name="Text 10"/>
          <p:cNvSpPr/>
          <p:nvPr/>
        </p:nvSpPr>
        <p:spPr>
          <a:xfrm>
            <a:off x="10852785" y="6142077"/>
            <a:ext cx="2521268" cy="315158"/>
          </a:xfrm>
          <a:prstGeom prst="rect">
            <a:avLst/>
          </a:prstGeom>
          <a:noFill/>
          <a:ln/>
        </p:spPr>
        <p:txBody>
          <a:bodyPr wrap="none" lIns="0" tIns="0" rIns="0" bIns="0" rtlCol="0" anchor="t"/>
          <a:lstStyle/>
          <a:p>
            <a:pPr algn="l" indent="0" marL="0">
              <a:lnSpc>
                <a:spcPts val="2450"/>
              </a:lnSpc>
              <a:buNone/>
            </a:pPr>
            <a:r>
              <a:rPr lang="en-US" sz="1950" b="1" spc="-40" kern="0" dirty="0">
                <a:solidFill>
                  <a:srgbClr val="E0D6DE"/>
                </a:solidFill>
                <a:latin typeface="Petrona Bold" pitchFamily="34" charset="0"/>
                <a:ea typeface="Petrona Bold" pitchFamily="34" charset="-122"/>
                <a:cs typeface="Petrona Bold" pitchFamily="34" charset="-120"/>
              </a:rPr>
              <a:t>Next Steps</a:t>
            </a:r>
            <a:endParaRPr lang="en-US" sz="1950" dirty="0"/>
          </a:p>
        </p:txBody>
      </p:sp>
      <p:sp>
        <p:nvSpPr>
          <p:cNvPr id="17" name="Text 11"/>
          <p:cNvSpPr/>
          <p:nvPr/>
        </p:nvSpPr>
        <p:spPr>
          <a:xfrm>
            <a:off x="10852785" y="6572488"/>
            <a:ext cx="3105388" cy="921544"/>
          </a:xfrm>
          <a:prstGeom prst="rect">
            <a:avLst/>
          </a:prstGeom>
          <a:noFill/>
          <a:ln/>
        </p:spPr>
        <p:txBody>
          <a:bodyPr wrap="square" lIns="0" tIns="0" rIns="0" bIns="0" rtlCol="0" anchor="t"/>
          <a:lstStyle/>
          <a:p>
            <a:pPr algn="l" indent="0" marL="0">
              <a:lnSpc>
                <a:spcPts val="2400"/>
              </a:lnSpc>
              <a:buNone/>
            </a:pPr>
            <a:r>
              <a:rPr lang="en-US" sz="1500" spc="-30" kern="0" dirty="0">
                <a:solidFill>
                  <a:srgbClr val="E0D6DE"/>
                </a:solidFill>
                <a:latin typeface="Inter" pitchFamily="34" charset="0"/>
                <a:ea typeface="Inter" pitchFamily="34" charset="-122"/>
                <a:cs typeface="Inter" pitchFamily="34" charset="-120"/>
              </a:rPr>
              <a:t>Planned exploration of data augmentation and advanced regularization techniques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0782" y="547211"/>
            <a:ext cx="11240333" cy="506968"/>
          </a:xfrm>
          <a:prstGeom prst="rect">
            <a:avLst/>
          </a:prstGeom>
          <a:noFill/>
          <a:ln/>
        </p:spPr>
        <p:txBody>
          <a:bodyPr wrap="none" lIns="0" tIns="0" rIns="0" bIns="0" rtlCol="0" anchor="t"/>
          <a:lstStyle/>
          <a:p>
            <a:pPr indent="0" marL="0">
              <a:lnSpc>
                <a:spcPts val="3950"/>
              </a:lnSpc>
              <a:buNone/>
            </a:pPr>
            <a:r>
              <a:rPr lang="en-US" sz="3150" b="1" spc="-64" kern="0" dirty="0">
                <a:solidFill>
                  <a:srgbClr val="FF8AAF"/>
                </a:solidFill>
                <a:latin typeface="Petrona Bold" pitchFamily="34" charset="0"/>
                <a:ea typeface="Petrona Bold" pitchFamily="34" charset="-122"/>
                <a:cs typeface="Petrona Bold" pitchFamily="34" charset="-120"/>
              </a:rPr>
              <a:t>Experiment 4: Batch Normalization and Additional Fine-tuning</a:t>
            </a:r>
            <a:endParaRPr lang="en-US" sz="3150" dirty="0"/>
          </a:p>
        </p:txBody>
      </p:sp>
      <p:sp>
        <p:nvSpPr>
          <p:cNvPr id="3" name="Text 1"/>
          <p:cNvSpPr/>
          <p:nvPr/>
        </p:nvSpPr>
        <p:spPr>
          <a:xfrm>
            <a:off x="540782" y="1363147"/>
            <a:ext cx="13548836" cy="741521"/>
          </a:xfrm>
          <a:prstGeom prst="rect">
            <a:avLst/>
          </a:prstGeom>
          <a:noFill/>
          <a:ln/>
        </p:spPr>
        <p:txBody>
          <a:bodyPr wrap="square" lIns="0" tIns="0" rIns="0" bIns="0" rtlCol="0" anchor="t"/>
          <a:lstStyle/>
          <a:p>
            <a:pPr indent="0" marL="0">
              <a:lnSpc>
                <a:spcPts val="1900"/>
              </a:lnSpc>
              <a:buNone/>
            </a:pPr>
            <a:r>
              <a:rPr lang="en-US" sz="1200" spc="-24" kern="0" dirty="0">
                <a:solidFill>
                  <a:srgbClr val="E0D6DE"/>
                </a:solidFill>
                <a:latin typeface="Inter" pitchFamily="34" charset="0"/>
                <a:ea typeface="Inter" pitchFamily="34" charset="-122"/>
                <a:cs typeface="Inter" pitchFamily="34" charset="-120"/>
              </a:rPr>
              <a:t>Experiment 4 marked a significant leap in our approach to fish quality classification. We introduced several key modifications to address the challenges identified in previous experiments. First, we updated our dataset to include segmented images of group fish (500 images per class) from app testing data in both training and validation sets. This addition aimed to mitigate the bias towards the "Good" class observed earlier.</a:t>
            </a:r>
            <a:endParaRPr lang="en-US" sz="1200" dirty="0"/>
          </a:p>
        </p:txBody>
      </p:sp>
      <p:sp>
        <p:nvSpPr>
          <p:cNvPr id="4" name="Text 2"/>
          <p:cNvSpPr/>
          <p:nvPr/>
        </p:nvSpPr>
        <p:spPr>
          <a:xfrm>
            <a:off x="540782" y="2278499"/>
            <a:ext cx="13548836" cy="494348"/>
          </a:xfrm>
          <a:prstGeom prst="rect">
            <a:avLst/>
          </a:prstGeom>
          <a:noFill/>
          <a:ln/>
        </p:spPr>
        <p:txBody>
          <a:bodyPr wrap="square" lIns="0" tIns="0" rIns="0" bIns="0" rtlCol="0" anchor="t"/>
          <a:lstStyle/>
          <a:p>
            <a:pPr indent="0" marL="0">
              <a:lnSpc>
                <a:spcPts val="1900"/>
              </a:lnSpc>
              <a:buNone/>
            </a:pPr>
            <a:r>
              <a:rPr lang="en-US" sz="1200" spc="-24" kern="0" dirty="0">
                <a:solidFill>
                  <a:srgbClr val="E0D6DE"/>
                </a:solidFill>
                <a:latin typeface="Inter" pitchFamily="34" charset="0"/>
                <a:ea typeface="Inter" pitchFamily="34" charset="-122"/>
                <a:cs typeface="Inter" pitchFamily="34" charset="-120"/>
              </a:rPr>
              <a:t>A major architectural change was the incorporation of Batch Normalization layers. We added these layers after dense layers to normalize the outputs, thereby accelerating training and improving overall model performance. Batch Normalization is known to enhance model stability and convergence, making it a valuable addition to our deep learning pipeline.</a:t>
            </a:r>
            <a:endParaRPr lang="en-US" sz="1200" dirty="0"/>
          </a:p>
        </p:txBody>
      </p:sp>
      <p:sp>
        <p:nvSpPr>
          <p:cNvPr id="5" name="Text 3"/>
          <p:cNvSpPr/>
          <p:nvPr/>
        </p:nvSpPr>
        <p:spPr>
          <a:xfrm>
            <a:off x="540782" y="2946678"/>
            <a:ext cx="13548836" cy="494348"/>
          </a:xfrm>
          <a:prstGeom prst="rect">
            <a:avLst/>
          </a:prstGeom>
          <a:noFill/>
          <a:ln/>
        </p:spPr>
        <p:txBody>
          <a:bodyPr wrap="square" lIns="0" tIns="0" rIns="0" bIns="0" rtlCol="0" anchor="t"/>
          <a:lstStyle/>
          <a:p>
            <a:pPr indent="0" marL="0">
              <a:lnSpc>
                <a:spcPts val="1900"/>
              </a:lnSpc>
              <a:buNone/>
            </a:pPr>
            <a:r>
              <a:rPr lang="en-US" sz="1200" spc="-24" kern="0" dirty="0">
                <a:solidFill>
                  <a:srgbClr val="E0D6DE"/>
                </a:solidFill>
                <a:latin typeface="Inter" pitchFamily="34" charset="0"/>
                <a:ea typeface="Inter" pitchFamily="34" charset="-122"/>
                <a:cs typeface="Inter" pitchFamily="34" charset="-120"/>
              </a:rPr>
              <a:t>We also applied L2 Regularization to the output layer, further reinforcing our efforts to prevent overfitting. In a bold move, we enabled all layers of the base model (DenseNet121) for training, essentially fine-tuning the entire network. This comprehensive approach allowed for more nuanced feature extraction tailored to our specific fish classification task.</a:t>
            </a:r>
            <a:endParaRPr lang="en-US" sz="1200" dirty="0"/>
          </a:p>
        </p:txBody>
      </p:sp>
      <p:sp>
        <p:nvSpPr>
          <p:cNvPr id="6" name="Text 4"/>
          <p:cNvSpPr/>
          <p:nvPr/>
        </p:nvSpPr>
        <p:spPr>
          <a:xfrm>
            <a:off x="540782" y="3614857"/>
            <a:ext cx="13548836" cy="494348"/>
          </a:xfrm>
          <a:prstGeom prst="rect">
            <a:avLst/>
          </a:prstGeom>
          <a:noFill/>
          <a:ln/>
        </p:spPr>
        <p:txBody>
          <a:bodyPr wrap="square" lIns="0" tIns="0" rIns="0" bIns="0" rtlCol="0" anchor="t"/>
          <a:lstStyle/>
          <a:p>
            <a:pPr indent="0" marL="0">
              <a:lnSpc>
                <a:spcPts val="1900"/>
              </a:lnSpc>
              <a:buNone/>
            </a:pPr>
            <a:r>
              <a:rPr lang="en-US" sz="1200" spc="-24" kern="0" dirty="0">
                <a:solidFill>
                  <a:srgbClr val="E0D6DE"/>
                </a:solidFill>
                <a:latin typeface="Inter" pitchFamily="34" charset="0"/>
                <a:ea typeface="Inter" pitchFamily="34" charset="-122"/>
                <a:cs typeface="Inter" pitchFamily="34" charset="-120"/>
              </a:rPr>
              <a:t>These modifications collectively represented a more sophisticated and targeted approach to improving our model's performance, setting the stage for significant advancements in classification accuracy.</a:t>
            </a:r>
            <a:endParaRPr lang="en-US" sz="1200" dirty="0"/>
          </a:p>
        </p:txBody>
      </p:sp>
      <p:sp>
        <p:nvSpPr>
          <p:cNvPr id="7" name="Shape 5"/>
          <p:cNvSpPr/>
          <p:nvPr/>
        </p:nvSpPr>
        <p:spPr>
          <a:xfrm>
            <a:off x="7303770" y="4283035"/>
            <a:ext cx="22860" cy="3399353"/>
          </a:xfrm>
          <a:prstGeom prst="roundRect">
            <a:avLst>
              <a:gd name="adj" fmla="val 283920"/>
            </a:avLst>
          </a:prstGeom>
          <a:solidFill>
            <a:srgbClr val="48367C"/>
          </a:solidFill>
          <a:ln/>
        </p:spPr>
      </p:sp>
      <p:sp>
        <p:nvSpPr>
          <p:cNvPr id="8" name="Shape 6"/>
          <p:cNvSpPr/>
          <p:nvPr/>
        </p:nvSpPr>
        <p:spPr>
          <a:xfrm>
            <a:off x="6623447" y="4619268"/>
            <a:ext cx="540782" cy="22860"/>
          </a:xfrm>
          <a:prstGeom prst="roundRect">
            <a:avLst>
              <a:gd name="adj" fmla="val 283920"/>
            </a:avLst>
          </a:prstGeom>
          <a:solidFill>
            <a:srgbClr val="48367C"/>
          </a:solidFill>
          <a:ln/>
        </p:spPr>
      </p:sp>
      <p:sp>
        <p:nvSpPr>
          <p:cNvPr id="9" name="Shape 7"/>
          <p:cNvSpPr/>
          <p:nvPr/>
        </p:nvSpPr>
        <p:spPr>
          <a:xfrm>
            <a:off x="7141369" y="4456867"/>
            <a:ext cx="347663" cy="347663"/>
          </a:xfrm>
          <a:prstGeom prst="roundRect">
            <a:avLst>
              <a:gd name="adj" fmla="val 18669"/>
            </a:avLst>
          </a:prstGeom>
          <a:solidFill>
            <a:srgbClr val="2F1D63"/>
          </a:solidFill>
          <a:ln w="7620">
            <a:solidFill>
              <a:srgbClr val="48367C"/>
            </a:solidFill>
            <a:prstDash val="solid"/>
          </a:ln>
        </p:spPr>
      </p:sp>
      <p:sp>
        <p:nvSpPr>
          <p:cNvPr id="10" name="Text 8"/>
          <p:cNvSpPr/>
          <p:nvPr/>
        </p:nvSpPr>
        <p:spPr>
          <a:xfrm>
            <a:off x="7265551" y="4509016"/>
            <a:ext cx="99298" cy="243364"/>
          </a:xfrm>
          <a:prstGeom prst="rect">
            <a:avLst/>
          </a:prstGeom>
          <a:noFill/>
          <a:ln/>
        </p:spPr>
        <p:txBody>
          <a:bodyPr wrap="none" lIns="0" tIns="0" rIns="0" bIns="0" rtlCol="0" anchor="t"/>
          <a:lstStyle/>
          <a:p>
            <a:pPr algn="ctr" indent="0" marL="0">
              <a:lnSpc>
                <a:spcPts val="1900"/>
              </a:lnSpc>
              <a:buNone/>
            </a:pPr>
            <a:r>
              <a:rPr lang="en-US" sz="1900" b="1" spc="-38" kern="0" dirty="0">
                <a:solidFill>
                  <a:srgbClr val="E0D6DE"/>
                </a:solidFill>
                <a:latin typeface="Petrona Bold" pitchFamily="34" charset="0"/>
                <a:ea typeface="Petrona Bold" pitchFamily="34" charset="-122"/>
                <a:cs typeface="Petrona Bold" pitchFamily="34" charset="-120"/>
              </a:rPr>
              <a:t>1</a:t>
            </a:r>
            <a:endParaRPr lang="en-US" sz="1900" dirty="0"/>
          </a:p>
        </p:txBody>
      </p:sp>
      <p:sp>
        <p:nvSpPr>
          <p:cNvPr id="11" name="Text 9"/>
          <p:cNvSpPr/>
          <p:nvPr/>
        </p:nvSpPr>
        <p:spPr>
          <a:xfrm>
            <a:off x="4437102" y="4437459"/>
            <a:ext cx="2028230" cy="253603"/>
          </a:xfrm>
          <a:prstGeom prst="rect">
            <a:avLst/>
          </a:prstGeom>
          <a:noFill/>
          <a:ln/>
        </p:spPr>
        <p:txBody>
          <a:bodyPr wrap="none" lIns="0" tIns="0" rIns="0" bIns="0" rtlCol="0" anchor="t"/>
          <a:lstStyle/>
          <a:p>
            <a:pPr algn="r" indent="0" marL="0">
              <a:lnSpc>
                <a:spcPts val="1950"/>
              </a:lnSpc>
              <a:buNone/>
            </a:pPr>
            <a:r>
              <a:rPr lang="en-US" sz="1550" b="1" spc="-32" kern="0" dirty="0">
                <a:solidFill>
                  <a:srgbClr val="E0D6DE"/>
                </a:solidFill>
                <a:latin typeface="Petrona Bold" pitchFamily="34" charset="0"/>
                <a:ea typeface="Petrona Bold" pitchFamily="34" charset="-122"/>
                <a:cs typeface="Petrona Bold" pitchFamily="34" charset="-120"/>
              </a:rPr>
              <a:t>Dataset Update</a:t>
            </a:r>
            <a:endParaRPr lang="en-US" sz="1550" dirty="0"/>
          </a:p>
        </p:txBody>
      </p:sp>
      <p:sp>
        <p:nvSpPr>
          <p:cNvPr id="12" name="Text 10"/>
          <p:cNvSpPr/>
          <p:nvPr/>
        </p:nvSpPr>
        <p:spPr>
          <a:xfrm>
            <a:off x="540782" y="4783693"/>
            <a:ext cx="5924550" cy="247174"/>
          </a:xfrm>
          <a:prstGeom prst="rect">
            <a:avLst/>
          </a:prstGeom>
          <a:noFill/>
          <a:ln/>
        </p:spPr>
        <p:txBody>
          <a:bodyPr wrap="none" lIns="0" tIns="0" rIns="0" bIns="0" rtlCol="0" anchor="t"/>
          <a:lstStyle/>
          <a:p>
            <a:pPr algn="r" indent="0" marL="0">
              <a:lnSpc>
                <a:spcPts val="1900"/>
              </a:lnSpc>
              <a:buNone/>
            </a:pPr>
            <a:r>
              <a:rPr lang="en-US" sz="1200" spc="-24" kern="0" dirty="0">
                <a:solidFill>
                  <a:srgbClr val="E0D6DE"/>
                </a:solidFill>
                <a:latin typeface="Inter" pitchFamily="34" charset="0"/>
                <a:ea typeface="Inter" pitchFamily="34" charset="-122"/>
                <a:cs typeface="Inter" pitchFamily="34" charset="-120"/>
              </a:rPr>
              <a:t>Included group fish images to address class bias</a:t>
            </a:r>
            <a:endParaRPr lang="en-US" sz="1200" dirty="0"/>
          </a:p>
        </p:txBody>
      </p:sp>
      <p:sp>
        <p:nvSpPr>
          <p:cNvPr id="13" name="Shape 11"/>
          <p:cNvSpPr/>
          <p:nvPr/>
        </p:nvSpPr>
        <p:spPr>
          <a:xfrm>
            <a:off x="7466171" y="5391745"/>
            <a:ext cx="540782" cy="22860"/>
          </a:xfrm>
          <a:prstGeom prst="roundRect">
            <a:avLst>
              <a:gd name="adj" fmla="val 283920"/>
            </a:avLst>
          </a:prstGeom>
          <a:solidFill>
            <a:srgbClr val="48367C"/>
          </a:solidFill>
          <a:ln/>
        </p:spPr>
      </p:sp>
      <p:sp>
        <p:nvSpPr>
          <p:cNvPr id="14" name="Shape 12"/>
          <p:cNvSpPr/>
          <p:nvPr/>
        </p:nvSpPr>
        <p:spPr>
          <a:xfrm>
            <a:off x="7141369" y="5229344"/>
            <a:ext cx="347663" cy="347663"/>
          </a:xfrm>
          <a:prstGeom prst="roundRect">
            <a:avLst>
              <a:gd name="adj" fmla="val 18669"/>
            </a:avLst>
          </a:prstGeom>
          <a:solidFill>
            <a:srgbClr val="2F1D63"/>
          </a:solidFill>
          <a:ln w="7620">
            <a:solidFill>
              <a:srgbClr val="48367C"/>
            </a:solidFill>
            <a:prstDash val="solid"/>
          </a:ln>
        </p:spPr>
      </p:sp>
      <p:sp>
        <p:nvSpPr>
          <p:cNvPr id="15" name="Text 13"/>
          <p:cNvSpPr/>
          <p:nvPr/>
        </p:nvSpPr>
        <p:spPr>
          <a:xfrm>
            <a:off x="7248525" y="5281493"/>
            <a:ext cx="133231" cy="243364"/>
          </a:xfrm>
          <a:prstGeom prst="rect">
            <a:avLst/>
          </a:prstGeom>
          <a:noFill/>
          <a:ln/>
        </p:spPr>
        <p:txBody>
          <a:bodyPr wrap="none" lIns="0" tIns="0" rIns="0" bIns="0" rtlCol="0" anchor="t"/>
          <a:lstStyle/>
          <a:p>
            <a:pPr algn="ctr" indent="0" marL="0">
              <a:lnSpc>
                <a:spcPts val="1900"/>
              </a:lnSpc>
              <a:buNone/>
            </a:pPr>
            <a:r>
              <a:rPr lang="en-US" sz="1900" b="1" spc="-38" kern="0" dirty="0">
                <a:solidFill>
                  <a:srgbClr val="E0D6DE"/>
                </a:solidFill>
                <a:latin typeface="Petrona Bold" pitchFamily="34" charset="0"/>
                <a:ea typeface="Petrona Bold" pitchFamily="34" charset="-122"/>
                <a:cs typeface="Petrona Bold" pitchFamily="34" charset="-120"/>
              </a:rPr>
              <a:t>2</a:t>
            </a:r>
            <a:endParaRPr lang="en-US" sz="1900" dirty="0"/>
          </a:p>
        </p:txBody>
      </p:sp>
      <p:sp>
        <p:nvSpPr>
          <p:cNvPr id="16" name="Text 14"/>
          <p:cNvSpPr/>
          <p:nvPr/>
        </p:nvSpPr>
        <p:spPr>
          <a:xfrm>
            <a:off x="8165068" y="5209937"/>
            <a:ext cx="2028230" cy="253603"/>
          </a:xfrm>
          <a:prstGeom prst="rect">
            <a:avLst/>
          </a:prstGeom>
          <a:noFill/>
          <a:ln/>
        </p:spPr>
        <p:txBody>
          <a:bodyPr wrap="none" lIns="0" tIns="0" rIns="0" bIns="0" rtlCol="0" anchor="t"/>
          <a:lstStyle/>
          <a:p>
            <a:pPr algn="l" indent="0" marL="0">
              <a:lnSpc>
                <a:spcPts val="1950"/>
              </a:lnSpc>
              <a:buNone/>
            </a:pPr>
            <a:r>
              <a:rPr lang="en-US" sz="1550" b="1" spc="-32" kern="0" dirty="0">
                <a:solidFill>
                  <a:srgbClr val="E0D6DE"/>
                </a:solidFill>
                <a:latin typeface="Petrona Bold" pitchFamily="34" charset="0"/>
                <a:ea typeface="Petrona Bold" pitchFamily="34" charset="-122"/>
                <a:cs typeface="Petrona Bold" pitchFamily="34" charset="-120"/>
              </a:rPr>
              <a:t>Batch Normalization</a:t>
            </a:r>
            <a:endParaRPr lang="en-US" sz="1550" dirty="0"/>
          </a:p>
        </p:txBody>
      </p:sp>
      <p:sp>
        <p:nvSpPr>
          <p:cNvPr id="17" name="Text 15"/>
          <p:cNvSpPr/>
          <p:nvPr/>
        </p:nvSpPr>
        <p:spPr>
          <a:xfrm>
            <a:off x="8165068" y="5556171"/>
            <a:ext cx="5924550" cy="247174"/>
          </a:xfrm>
          <a:prstGeom prst="rect">
            <a:avLst/>
          </a:prstGeom>
          <a:noFill/>
          <a:ln/>
        </p:spPr>
        <p:txBody>
          <a:bodyPr wrap="none" lIns="0" tIns="0" rIns="0" bIns="0" rtlCol="0" anchor="t"/>
          <a:lstStyle/>
          <a:p>
            <a:pPr algn="l" indent="0" marL="0">
              <a:lnSpc>
                <a:spcPts val="1900"/>
              </a:lnSpc>
              <a:buNone/>
            </a:pPr>
            <a:r>
              <a:rPr lang="en-US" sz="1200" spc="-24" kern="0" dirty="0">
                <a:solidFill>
                  <a:srgbClr val="E0D6DE"/>
                </a:solidFill>
                <a:latin typeface="Inter" pitchFamily="34" charset="0"/>
                <a:ea typeface="Inter" pitchFamily="34" charset="-122"/>
                <a:cs typeface="Inter" pitchFamily="34" charset="-120"/>
              </a:rPr>
              <a:t>Added after dense layers for improved stability</a:t>
            </a:r>
            <a:endParaRPr lang="en-US" sz="1200" dirty="0"/>
          </a:p>
        </p:txBody>
      </p:sp>
      <p:sp>
        <p:nvSpPr>
          <p:cNvPr id="18" name="Shape 16"/>
          <p:cNvSpPr/>
          <p:nvPr/>
        </p:nvSpPr>
        <p:spPr>
          <a:xfrm>
            <a:off x="6623447" y="6087070"/>
            <a:ext cx="540782" cy="22860"/>
          </a:xfrm>
          <a:prstGeom prst="roundRect">
            <a:avLst>
              <a:gd name="adj" fmla="val 283920"/>
            </a:avLst>
          </a:prstGeom>
          <a:solidFill>
            <a:srgbClr val="48367C"/>
          </a:solidFill>
          <a:ln/>
        </p:spPr>
      </p:sp>
      <p:sp>
        <p:nvSpPr>
          <p:cNvPr id="19" name="Shape 17"/>
          <p:cNvSpPr/>
          <p:nvPr/>
        </p:nvSpPr>
        <p:spPr>
          <a:xfrm>
            <a:off x="7141369" y="5924669"/>
            <a:ext cx="347663" cy="347663"/>
          </a:xfrm>
          <a:prstGeom prst="roundRect">
            <a:avLst>
              <a:gd name="adj" fmla="val 18669"/>
            </a:avLst>
          </a:prstGeom>
          <a:solidFill>
            <a:srgbClr val="2F1D63"/>
          </a:solidFill>
          <a:ln w="7620">
            <a:solidFill>
              <a:srgbClr val="48367C"/>
            </a:solidFill>
            <a:prstDash val="solid"/>
          </a:ln>
        </p:spPr>
      </p:sp>
      <p:sp>
        <p:nvSpPr>
          <p:cNvPr id="20" name="Text 18"/>
          <p:cNvSpPr/>
          <p:nvPr/>
        </p:nvSpPr>
        <p:spPr>
          <a:xfrm>
            <a:off x="7248644" y="5976818"/>
            <a:ext cx="132993" cy="243364"/>
          </a:xfrm>
          <a:prstGeom prst="rect">
            <a:avLst/>
          </a:prstGeom>
          <a:noFill/>
          <a:ln/>
        </p:spPr>
        <p:txBody>
          <a:bodyPr wrap="none" lIns="0" tIns="0" rIns="0" bIns="0" rtlCol="0" anchor="t"/>
          <a:lstStyle/>
          <a:p>
            <a:pPr algn="ctr" indent="0" marL="0">
              <a:lnSpc>
                <a:spcPts val="1900"/>
              </a:lnSpc>
              <a:buNone/>
            </a:pPr>
            <a:r>
              <a:rPr lang="en-US" sz="1900" b="1" spc="-38" kern="0" dirty="0">
                <a:solidFill>
                  <a:srgbClr val="E0D6DE"/>
                </a:solidFill>
                <a:latin typeface="Petrona Bold" pitchFamily="34" charset="0"/>
                <a:ea typeface="Petrona Bold" pitchFamily="34" charset="-122"/>
                <a:cs typeface="Petrona Bold" pitchFamily="34" charset="-120"/>
              </a:rPr>
              <a:t>3</a:t>
            </a:r>
            <a:endParaRPr lang="en-US" sz="1900" dirty="0"/>
          </a:p>
        </p:txBody>
      </p:sp>
      <p:sp>
        <p:nvSpPr>
          <p:cNvPr id="21" name="Text 19"/>
          <p:cNvSpPr/>
          <p:nvPr/>
        </p:nvSpPr>
        <p:spPr>
          <a:xfrm>
            <a:off x="4437102" y="5905262"/>
            <a:ext cx="2028230" cy="253603"/>
          </a:xfrm>
          <a:prstGeom prst="rect">
            <a:avLst/>
          </a:prstGeom>
          <a:noFill/>
          <a:ln/>
        </p:spPr>
        <p:txBody>
          <a:bodyPr wrap="none" lIns="0" tIns="0" rIns="0" bIns="0" rtlCol="0" anchor="t"/>
          <a:lstStyle/>
          <a:p>
            <a:pPr algn="r" indent="0" marL="0">
              <a:lnSpc>
                <a:spcPts val="1950"/>
              </a:lnSpc>
              <a:buNone/>
            </a:pPr>
            <a:r>
              <a:rPr lang="en-US" sz="1550" b="1" spc="-32" kern="0" dirty="0">
                <a:solidFill>
                  <a:srgbClr val="E0D6DE"/>
                </a:solidFill>
                <a:latin typeface="Petrona Bold" pitchFamily="34" charset="0"/>
                <a:ea typeface="Petrona Bold" pitchFamily="34" charset="-122"/>
                <a:cs typeface="Petrona Bold" pitchFamily="34" charset="-120"/>
              </a:rPr>
              <a:t>L2 Regularization</a:t>
            </a:r>
            <a:endParaRPr lang="en-US" sz="1550" dirty="0"/>
          </a:p>
        </p:txBody>
      </p:sp>
      <p:sp>
        <p:nvSpPr>
          <p:cNvPr id="22" name="Text 20"/>
          <p:cNvSpPr/>
          <p:nvPr/>
        </p:nvSpPr>
        <p:spPr>
          <a:xfrm>
            <a:off x="540782" y="6251496"/>
            <a:ext cx="5924550" cy="247174"/>
          </a:xfrm>
          <a:prstGeom prst="rect">
            <a:avLst/>
          </a:prstGeom>
          <a:noFill/>
          <a:ln/>
        </p:spPr>
        <p:txBody>
          <a:bodyPr wrap="none" lIns="0" tIns="0" rIns="0" bIns="0" rtlCol="0" anchor="t"/>
          <a:lstStyle/>
          <a:p>
            <a:pPr algn="r" indent="0" marL="0">
              <a:lnSpc>
                <a:spcPts val="1900"/>
              </a:lnSpc>
              <a:buNone/>
            </a:pPr>
            <a:r>
              <a:rPr lang="en-US" sz="1200" spc="-24" kern="0" dirty="0">
                <a:solidFill>
                  <a:srgbClr val="E0D6DE"/>
                </a:solidFill>
                <a:latin typeface="Inter" pitchFamily="34" charset="0"/>
                <a:ea typeface="Inter" pitchFamily="34" charset="-122"/>
                <a:cs typeface="Inter" pitchFamily="34" charset="-120"/>
              </a:rPr>
              <a:t>Applied to output layer to combat overfitting</a:t>
            </a:r>
            <a:endParaRPr lang="en-US" sz="1200" dirty="0"/>
          </a:p>
        </p:txBody>
      </p:sp>
      <p:sp>
        <p:nvSpPr>
          <p:cNvPr id="23" name="Shape 21"/>
          <p:cNvSpPr/>
          <p:nvPr/>
        </p:nvSpPr>
        <p:spPr>
          <a:xfrm>
            <a:off x="7466171" y="6782395"/>
            <a:ext cx="540782" cy="22860"/>
          </a:xfrm>
          <a:prstGeom prst="roundRect">
            <a:avLst>
              <a:gd name="adj" fmla="val 283920"/>
            </a:avLst>
          </a:prstGeom>
          <a:solidFill>
            <a:srgbClr val="48367C"/>
          </a:solidFill>
          <a:ln/>
        </p:spPr>
      </p:sp>
      <p:sp>
        <p:nvSpPr>
          <p:cNvPr id="24" name="Shape 22"/>
          <p:cNvSpPr/>
          <p:nvPr/>
        </p:nvSpPr>
        <p:spPr>
          <a:xfrm>
            <a:off x="7141369" y="6619994"/>
            <a:ext cx="347663" cy="347663"/>
          </a:xfrm>
          <a:prstGeom prst="roundRect">
            <a:avLst>
              <a:gd name="adj" fmla="val 18669"/>
            </a:avLst>
          </a:prstGeom>
          <a:solidFill>
            <a:srgbClr val="2F1D63"/>
          </a:solidFill>
          <a:ln w="7620">
            <a:solidFill>
              <a:srgbClr val="48367C"/>
            </a:solidFill>
            <a:prstDash val="solid"/>
          </a:ln>
        </p:spPr>
      </p:sp>
      <p:sp>
        <p:nvSpPr>
          <p:cNvPr id="25" name="Text 23"/>
          <p:cNvSpPr/>
          <p:nvPr/>
        </p:nvSpPr>
        <p:spPr>
          <a:xfrm>
            <a:off x="7251978" y="6672143"/>
            <a:ext cx="126325" cy="243364"/>
          </a:xfrm>
          <a:prstGeom prst="rect">
            <a:avLst/>
          </a:prstGeom>
          <a:noFill/>
          <a:ln/>
        </p:spPr>
        <p:txBody>
          <a:bodyPr wrap="none" lIns="0" tIns="0" rIns="0" bIns="0" rtlCol="0" anchor="t"/>
          <a:lstStyle/>
          <a:p>
            <a:pPr algn="ctr" indent="0" marL="0">
              <a:lnSpc>
                <a:spcPts val="1900"/>
              </a:lnSpc>
              <a:buNone/>
            </a:pPr>
            <a:r>
              <a:rPr lang="en-US" sz="1900" b="1" spc="-38" kern="0" dirty="0">
                <a:solidFill>
                  <a:srgbClr val="E0D6DE"/>
                </a:solidFill>
                <a:latin typeface="Petrona Bold" pitchFamily="34" charset="0"/>
                <a:ea typeface="Petrona Bold" pitchFamily="34" charset="-122"/>
                <a:cs typeface="Petrona Bold" pitchFamily="34" charset="-120"/>
              </a:rPr>
              <a:t>4</a:t>
            </a:r>
            <a:endParaRPr lang="en-US" sz="1900" dirty="0"/>
          </a:p>
        </p:txBody>
      </p:sp>
      <p:sp>
        <p:nvSpPr>
          <p:cNvPr id="26" name="Text 24"/>
          <p:cNvSpPr/>
          <p:nvPr/>
        </p:nvSpPr>
        <p:spPr>
          <a:xfrm>
            <a:off x="8165068" y="6600587"/>
            <a:ext cx="2059662" cy="253603"/>
          </a:xfrm>
          <a:prstGeom prst="rect">
            <a:avLst/>
          </a:prstGeom>
          <a:noFill/>
          <a:ln/>
        </p:spPr>
        <p:txBody>
          <a:bodyPr wrap="none" lIns="0" tIns="0" rIns="0" bIns="0" rtlCol="0" anchor="t"/>
          <a:lstStyle/>
          <a:p>
            <a:pPr algn="l" indent="0" marL="0">
              <a:lnSpc>
                <a:spcPts val="1950"/>
              </a:lnSpc>
              <a:buNone/>
            </a:pPr>
            <a:r>
              <a:rPr lang="en-US" sz="1550" b="1" spc="-32" kern="0" dirty="0">
                <a:solidFill>
                  <a:srgbClr val="E0D6DE"/>
                </a:solidFill>
                <a:latin typeface="Petrona Bold" pitchFamily="34" charset="0"/>
                <a:ea typeface="Petrona Bold" pitchFamily="34" charset="-122"/>
                <a:cs typeface="Petrona Bold" pitchFamily="34" charset="-120"/>
              </a:rPr>
              <a:t>Full Model Fine-tuning</a:t>
            </a:r>
            <a:endParaRPr lang="en-US" sz="1550" dirty="0"/>
          </a:p>
        </p:txBody>
      </p:sp>
      <p:sp>
        <p:nvSpPr>
          <p:cNvPr id="27" name="Text 25"/>
          <p:cNvSpPr/>
          <p:nvPr/>
        </p:nvSpPr>
        <p:spPr>
          <a:xfrm>
            <a:off x="8165068" y="6946821"/>
            <a:ext cx="5924550" cy="247174"/>
          </a:xfrm>
          <a:prstGeom prst="rect">
            <a:avLst/>
          </a:prstGeom>
          <a:noFill/>
          <a:ln/>
        </p:spPr>
        <p:txBody>
          <a:bodyPr wrap="none" lIns="0" tIns="0" rIns="0" bIns="0" rtlCol="0" anchor="t"/>
          <a:lstStyle/>
          <a:p>
            <a:pPr algn="l" indent="0" marL="0">
              <a:lnSpc>
                <a:spcPts val="1900"/>
              </a:lnSpc>
              <a:buNone/>
            </a:pPr>
            <a:r>
              <a:rPr lang="en-US" sz="1200" spc="-24" kern="0" dirty="0">
                <a:solidFill>
                  <a:srgbClr val="E0D6DE"/>
                </a:solidFill>
                <a:latin typeface="Inter" pitchFamily="34" charset="0"/>
                <a:ea typeface="Inter" pitchFamily="34" charset="-122"/>
                <a:cs typeface="Inter" pitchFamily="34" charset="-120"/>
              </a:rPr>
              <a:t>Enabled training of all base model layers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35318" y="637223"/>
            <a:ext cx="7242215" cy="595551"/>
          </a:xfrm>
          <a:prstGeom prst="rect">
            <a:avLst/>
          </a:prstGeom>
          <a:noFill/>
          <a:ln/>
        </p:spPr>
        <p:txBody>
          <a:bodyPr wrap="none" lIns="0" tIns="0" rIns="0" bIns="0" rtlCol="0" anchor="t"/>
          <a:lstStyle/>
          <a:p>
            <a:pPr indent="0" marL="0">
              <a:lnSpc>
                <a:spcPts val="4650"/>
              </a:lnSpc>
              <a:buNone/>
            </a:pPr>
            <a:r>
              <a:rPr lang="en-US" sz="3750" b="1" spc="-75" kern="0" dirty="0">
                <a:solidFill>
                  <a:srgbClr val="FF8AAF"/>
                </a:solidFill>
                <a:latin typeface="Petrona Bold" pitchFamily="34" charset="0"/>
                <a:ea typeface="Petrona Bold" pitchFamily="34" charset="-122"/>
                <a:cs typeface="Petrona Bold" pitchFamily="34" charset="-120"/>
              </a:rPr>
              <a:t>Experiment 4: Results and Insights</a:t>
            </a:r>
            <a:endParaRPr lang="en-US" sz="3750" dirty="0"/>
          </a:p>
        </p:txBody>
      </p:sp>
      <p:sp>
        <p:nvSpPr>
          <p:cNvPr id="3" name="Text 1"/>
          <p:cNvSpPr/>
          <p:nvPr/>
        </p:nvSpPr>
        <p:spPr>
          <a:xfrm>
            <a:off x="635318" y="1595795"/>
            <a:ext cx="13359765" cy="871538"/>
          </a:xfrm>
          <a:prstGeom prst="rect">
            <a:avLst/>
          </a:prstGeom>
          <a:noFill/>
          <a:ln/>
        </p:spPr>
        <p:txBody>
          <a:bodyPr wrap="square" lIns="0" tIns="0" rIns="0" bIns="0" rtlCol="0" anchor="t"/>
          <a:lstStyle/>
          <a:p>
            <a:pPr indent="0" marL="0">
              <a:lnSpc>
                <a:spcPts val="2250"/>
              </a:lnSpc>
              <a:buNone/>
            </a:pPr>
            <a:r>
              <a:rPr lang="en-US" sz="1400" spc="-29" kern="0" dirty="0">
                <a:solidFill>
                  <a:srgbClr val="E0D6DE"/>
                </a:solidFill>
                <a:latin typeface="Inter" pitchFamily="34" charset="0"/>
                <a:ea typeface="Inter" pitchFamily="34" charset="-122"/>
                <a:cs typeface="Inter" pitchFamily="34" charset="-120"/>
              </a:rPr>
              <a:t>The implementation of batch normalization and additional fine-tuning in Experiment 4 yielded remarkable results, showcasing the effectiveness of our refined approach. We utilized TensorFlow 2.16, resolving previous model loading issues and ensuring a stable development environment. The training configuration was adjusted to build upon our previous work, continuing from saved weights of the 50-epoch model from earlier experiments.</a:t>
            </a:r>
            <a:endParaRPr lang="en-US" sz="1400" dirty="0"/>
          </a:p>
        </p:txBody>
      </p:sp>
      <p:sp>
        <p:nvSpPr>
          <p:cNvPr id="4" name="Text 2"/>
          <p:cNvSpPr/>
          <p:nvPr/>
        </p:nvSpPr>
        <p:spPr>
          <a:xfrm>
            <a:off x="635318" y="2671524"/>
            <a:ext cx="13359765" cy="871538"/>
          </a:xfrm>
          <a:prstGeom prst="rect">
            <a:avLst/>
          </a:prstGeom>
          <a:noFill/>
          <a:ln/>
        </p:spPr>
        <p:txBody>
          <a:bodyPr wrap="square" lIns="0" tIns="0" rIns="0" bIns="0" rtlCol="0" anchor="t"/>
          <a:lstStyle/>
          <a:p>
            <a:pPr indent="0" marL="0">
              <a:lnSpc>
                <a:spcPts val="2250"/>
              </a:lnSpc>
              <a:buNone/>
            </a:pPr>
            <a:r>
              <a:rPr lang="en-US" sz="1400" spc="-29" kern="0" dirty="0">
                <a:solidFill>
                  <a:srgbClr val="E0D6DE"/>
                </a:solidFill>
                <a:latin typeface="Inter" pitchFamily="34" charset="0"/>
                <a:ea typeface="Inter" pitchFamily="34" charset="-122"/>
                <a:cs typeface="Inter" pitchFamily="34" charset="-120"/>
              </a:rPr>
              <a:t>We significantly lowered the learning rate to 1e-5, allowing for more precise weight adjustments during fine-tuning. The model was trained for an additional 20 epochs with data augmentation, enhancing its ability to generalize across various image variations. This combination of transfer learning and careful parameter tuning proved highly effective.</a:t>
            </a:r>
            <a:endParaRPr lang="en-US" sz="1400" dirty="0"/>
          </a:p>
        </p:txBody>
      </p:sp>
      <p:sp>
        <p:nvSpPr>
          <p:cNvPr id="5" name="Text 3"/>
          <p:cNvSpPr/>
          <p:nvPr/>
        </p:nvSpPr>
        <p:spPr>
          <a:xfrm>
            <a:off x="635318" y="3747254"/>
            <a:ext cx="13359765" cy="871538"/>
          </a:xfrm>
          <a:prstGeom prst="rect">
            <a:avLst/>
          </a:prstGeom>
          <a:noFill/>
          <a:ln/>
        </p:spPr>
        <p:txBody>
          <a:bodyPr wrap="square" lIns="0" tIns="0" rIns="0" bIns="0" rtlCol="0" anchor="t"/>
          <a:lstStyle/>
          <a:p>
            <a:pPr indent="0" marL="0">
              <a:lnSpc>
                <a:spcPts val="2250"/>
              </a:lnSpc>
              <a:buNone/>
            </a:pPr>
            <a:r>
              <a:rPr lang="en-US" sz="1400" spc="-29" kern="0" dirty="0">
                <a:solidFill>
                  <a:srgbClr val="E0D6DE"/>
                </a:solidFill>
                <a:latin typeface="Inter" pitchFamily="34" charset="0"/>
                <a:ea typeface="Inter" pitchFamily="34" charset="-122"/>
                <a:cs typeface="Inter" pitchFamily="34" charset="-120"/>
              </a:rPr>
              <a:t>The performance metrics showed substantial improvements across all datasets. Training accuracy reached 88%, while validation accuracy increased to 81%. Test accuracy rose to 83%, and unseen data accuracy impressively climbed to 86%. Most notably, we achieved an 81% accuracy on the app testing data, a significant improvement that addressed our previous challenges with this dataset.</a:t>
            </a:r>
            <a:endParaRPr lang="en-US" sz="1400" dirty="0"/>
          </a:p>
        </p:txBody>
      </p:sp>
      <p:sp>
        <p:nvSpPr>
          <p:cNvPr id="6" name="Text 4"/>
          <p:cNvSpPr/>
          <p:nvPr/>
        </p:nvSpPr>
        <p:spPr>
          <a:xfrm>
            <a:off x="635318" y="4822984"/>
            <a:ext cx="13359765" cy="581025"/>
          </a:xfrm>
          <a:prstGeom prst="rect">
            <a:avLst/>
          </a:prstGeom>
          <a:noFill/>
          <a:ln/>
        </p:spPr>
        <p:txBody>
          <a:bodyPr wrap="square" lIns="0" tIns="0" rIns="0" bIns="0" rtlCol="0" anchor="t"/>
          <a:lstStyle/>
          <a:p>
            <a:pPr indent="0" marL="0">
              <a:lnSpc>
                <a:spcPts val="2250"/>
              </a:lnSpc>
              <a:buNone/>
            </a:pPr>
            <a:r>
              <a:rPr lang="en-US" sz="1400" spc="-29" kern="0" dirty="0">
                <a:solidFill>
                  <a:srgbClr val="E0D6DE"/>
                </a:solidFill>
                <a:latin typeface="Inter" pitchFamily="34" charset="0"/>
                <a:ea typeface="Inter" pitchFamily="34" charset="-122"/>
                <a:cs typeface="Inter" pitchFamily="34" charset="-120"/>
              </a:rPr>
              <a:t>These results underscored the importance of batch normalization in stabilizing and accelerating neural network training. The introduction of this technique, coupled with our other modifications, led to a more robust and accurate model capable of generalizing well across various fish quality classification scenarios.</a:t>
            </a:r>
            <a:endParaRPr lang="en-US" sz="1400" dirty="0"/>
          </a:p>
        </p:txBody>
      </p:sp>
      <p:sp>
        <p:nvSpPr>
          <p:cNvPr id="7" name="Shape 5"/>
          <p:cNvSpPr/>
          <p:nvPr/>
        </p:nvSpPr>
        <p:spPr>
          <a:xfrm>
            <a:off x="635318" y="5812393"/>
            <a:ext cx="408384" cy="408384"/>
          </a:xfrm>
          <a:prstGeom prst="roundRect">
            <a:avLst>
              <a:gd name="adj" fmla="val 18668"/>
            </a:avLst>
          </a:prstGeom>
          <a:solidFill>
            <a:srgbClr val="2F1D63"/>
          </a:solidFill>
          <a:ln w="7620">
            <a:solidFill>
              <a:srgbClr val="48367C"/>
            </a:solidFill>
            <a:prstDash val="solid"/>
          </a:ln>
        </p:spPr>
      </p:sp>
      <p:sp>
        <p:nvSpPr>
          <p:cNvPr id="8" name="Text 6"/>
          <p:cNvSpPr/>
          <p:nvPr/>
        </p:nvSpPr>
        <p:spPr>
          <a:xfrm>
            <a:off x="781169" y="5873591"/>
            <a:ext cx="116681" cy="285869"/>
          </a:xfrm>
          <a:prstGeom prst="rect">
            <a:avLst/>
          </a:prstGeom>
          <a:noFill/>
          <a:ln/>
        </p:spPr>
        <p:txBody>
          <a:bodyPr wrap="none" lIns="0" tIns="0" rIns="0" bIns="0" rtlCol="0" anchor="t"/>
          <a:lstStyle/>
          <a:p>
            <a:pPr algn="ctr" indent="0" marL="0">
              <a:lnSpc>
                <a:spcPts val="2250"/>
              </a:lnSpc>
              <a:buNone/>
            </a:pPr>
            <a:r>
              <a:rPr lang="en-US" sz="2250" b="1" spc="-45" kern="0" dirty="0">
                <a:solidFill>
                  <a:srgbClr val="E0D6DE"/>
                </a:solidFill>
                <a:latin typeface="Petrona Bold" pitchFamily="34" charset="0"/>
                <a:ea typeface="Petrona Bold" pitchFamily="34" charset="-122"/>
                <a:cs typeface="Petrona Bold" pitchFamily="34" charset="-120"/>
              </a:rPr>
              <a:t>1</a:t>
            </a:r>
            <a:endParaRPr lang="en-US" sz="2250" dirty="0"/>
          </a:p>
        </p:txBody>
      </p:sp>
      <p:sp>
        <p:nvSpPr>
          <p:cNvPr id="9" name="Text 7"/>
          <p:cNvSpPr/>
          <p:nvPr/>
        </p:nvSpPr>
        <p:spPr>
          <a:xfrm>
            <a:off x="1225153" y="5812393"/>
            <a:ext cx="2457688" cy="297775"/>
          </a:xfrm>
          <a:prstGeom prst="rect">
            <a:avLst/>
          </a:prstGeom>
          <a:noFill/>
          <a:ln/>
        </p:spPr>
        <p:txBody>
          <a:bodyPr wrap="none" lIns="0" tIns="0" rIns="0" bIns="0" rtlCol="0" anchor="t"/>
          <a:lstStyle/>
          <a:p>
            <a:pPr indent="0" marL="0">
              <a:lnSpc>
                <a:spcPts val="2300"/>
              </a:lnSpc>
              <a:buNone/>
            </a:pPr>
            <a:r>
              <a:rPr lang="en-US" sz="1850" b="1" spc="-38" kern="0" dirty="0">
                <a:solidFill>
                  <a:srgbClr val="E0D6DE"/>
                </a:solidFill>
                <a:latin typeface="Petrona Bold" pitchFamily="34" charset="0"/>
                <a:ea typeface="Petrona Bold" pitchFamily="34" charset="-122"/>
                <a:cs typeface="Petrona Bold" pitchFamily="34" charset="-120"/>
              </a:rPr>
              <a:t>Training Accuracy: 88%</a:t>
            </a:r>
            <a:endParaRPr lang="en-US" sz="1850" dirty="0"/>
          </a:p>
        </p:txBody>
      </p:sp>
      <p:sp>
        <p:nvSpPr>
          <p:cNvPr id="10" name="Text 8"/>
          <p:cNvSpPr/>
          <p:nvPr/>
        </p:nvSpPr>
        <p:spPr>
          <a:xfrm>
            <a:off x="1225153" y="6218992"/>
            <a:ext cx="5999321" cy="290513"/>
          </a:xfrm>
          <a:prstGeom prst="rect">
            <a:avLst/>
          </a:prstGeom>
          <a:noFill/>
          <a:ln/>
        </p:spPr>
        <p:txBody>
          <a:bodyPr wrap="none" lIns="0" tIns="0" rIns="0" bIns="0" rtlCol="0" anchor="t"/>
          <a:lstStyle/>
          <a:p>
            <a:pPr indent="0" marL="0">
              <a:lnSpc>
                <a:spcPts val="2250"/>
              </a:lnSpc>
              <a:buNone/>
            </a:pPr>
            <a:r>
              <a:rPr lang="en-US" sz="1400" spc="-29" kern="0" dirty="0">
                <a:solidFill>
                  <a:srgbClr val="E0D6DE"/>
                </a:solidFill>
                <a:latin typeface="Inter" pitchFamily="34" charset="0"/>
                <a:ea typeface="Inter" pitchFamily="34" charset="-122"/>
                <a:cs typeface="Inter" pitchFamily="34" charset="-120"/>
              </a:rPr>
              <a:t>Significant improvement indicating strong learning capabilities</a:t>
            </a:r>
            <a:endParaRPr lang="en-US" sz="1400" dirty="0"/>
          </a:p>
        </p:txBody>
      </p:sp>
      <p:sp>
        <p:nvSpPr>
          <p:cNvPr id="11" name="Shape 9"/>
          <p:cNvSpPr/>
          <p:nvPr/>
        </p:nvSpPr>
        <p:spPr>
          <a:xfrm>
            <a:off x="7405926" y="5812393"/>
            <a:ext cx="408384" cy="408384"/>
          </a:xfrm>
          <a:prstGeom prst="roundRect">
            <a:avLst>
              <a:gd name="adj" fmla="val 18668"/>
            </a:avLst>
          </a:prstGeom>
          <a:solidFill>
            <a:srgbClr val="2F1D63"/>
          </a:solidFill>
          <a:ln w="7620">
            <a:solidFill>
              <a:srgbClr val="48367C"/>
            </a:solidFill>
            <a:prstDash val="solid"/>
          </a:ln>
        </p:spPr>
      </p:sp>
      <p:sp>
        <p:nvSpPr>
          <p:cNvPr id="12" name="Text 10"/>
          <p:cNvSpPr/>
          <p:nvPr/>
        </p:nvSpPr>
        <p:spPr>
          <a:xfrm>
            <a:off x="7531894" y="5873591"/>
            <a:ext cx="156329" cy="285869"/>
          </a:xfrm>
          <a:prstGeom prst="rect">
            <a:avLst/>
          </a:prstGeom>
          <a:noFill/>
          <a:ln/>
        </p:spPr>
        <p:txBody>
          <a:bodyPr wrap="none" lIns="0" tIns="0" rIns="0" bIns="0" rtlCol="0" anchor="t"/>
          <a:lstStyle/>
          <a:p>
            <a:pPr algn="ctr" indent="0" marL="0">
              <a:lnSpc>
                <a:spcPts val="2250"/>
              </a:lnSpc>
              <a:buNone/>
            </a:pPr>
            <a:r>
              <a:rPr lang="en-US" sz="2250" b="1" spc="-45" kern="0" dirty="0">
                <a:solidFill>
                  <a:srgbClr val="E0D6DE"/>
                </a:solidFill>
                <a:latin typeface="Petrona Bold" pitchFamily="34" charset="0"/>
                <a:ea typeface="Petrona Bold" pitchFamily="34" charset="-122"/>
                <a:cs typeface="Petrona Bold" pitchFamily="34" charset="-120"/>
              </a:rPr>
              <a:t>2</a:t>
            </a:r>
            <a:endParaRPr lang="en-US" sz="2250" dirty="0"/>
          </a:p>
        </p:txBody>
      </p:sp>
      <p:sp>
        <p:nvSpPr>
          <p:cNvPr id="13" name="Text 11"/>
          <p:cNvSpPr/>
          <p:nvPr/>
        </p:nvSpPr>
        <p:spPr>
          <a:xfrm>
            <a:off x="7995761" y="5812393"/>
            <a:ext cx="2600563" cy="297775"/>
          </a:xfrm>
          <a:prstGeom prst="rect">
            <a:avLst/>
          </a:prstGeom>
          <a:noFill/>
          <a:ln/>
        </p:spPr>
        <p:txBody>
          <a:bodyPr wrap="none" lIns="0" tIns="0" rIns="0" bIns="0" rtlCol="0" anchor="t"/>
          <a:lstStyle/>
          <a:p>
            <a:pPr indent="0" marL="0">
              <a:lnSpc>
                <a:spcPts val="2300"/>
              </a:lnSpc>
              <a:buNone/>
            </a:pPr>
            <a:r>
              <a:rPr lang="en-US" sz="1850" b="1" spc="-38" kern="0" dirty="0">
                <a:solidFill>
                  <a:srgbClr val="E0D6DE"/>
                </a:solidFill>
                <a:latin typeface="Petrona Bold" pitchFamily="34" charset="0"/>
                <a:ea typeface="Petrona Bold" pitchFamily="34" charset="-122"/>
                <a:cs typeface="Petrona Bold" pitchFamily="34" charset="-120"/>
              </a:rPr>
              <a:t>Validation Accuracy: 81%</a:t>
            </a:r>
            <a:endParaRPr lang="en-US" sz="1850" dirty="0"/>
          </a:p>
        </p:txBody>
      </p:sp>
      <p:sp>
        <p:nvSpPr>
          <p:cNvPr id="14" name="Text 12"/>
          <p:cNvSpPr/>
          <p:nvPr/>
        </p:nvSpPr>
        <p:spPr>
          <a:xfrm>
            <a:off x="7995761" y="6218992"/>
            <a:ext cx="5999321" cy="290513"/>
          </a:xfrm>
          <a:prstGeom prst="rect">
            <a:avLst/>
          </a:prstGeom>
          <a:noFill/>
          <a:ln/>
        </p:spPr>
        <p:txBody>
          <a:bodyPr wrap="none" lIns="0" tIns="0" rIns="0" bIns="0" rtlCol="0" anchor="t"/>
          <a:lstStyle/>
          <a:p>
            <a:pPr indent="0" marL="0">
              <a:lnSpc>
                <a:spcPts val="2250"/>
              </a:lnSpc>
              <a:buNone/>
            </a:pPr>
            <a:r>
              <a:rPr lang="en-US" sz="1400" spc="-29" kern="0" dirty="0">
                <a:solidFill>
                  <a:srgbClr val="E0D6DE"/>
                </a:solidFill>
                <a:latin typeface="Inter" pitchFamily="34" charset="0"/>
                <a:ea typeface="Inter" pitchFamily="34" charset="-122"/>
                <a:cs typeface="Inter" pitchFamily="34" charset="-120"/>
              </a:rPr>
              <a:t>Demonstrates good generalization to unseen data</a:t>
            </a:r>
            <a:endParaRPr lang="en-US" sz="1400" dirty="0"/>
          </a:p>
        </p:txBody>
      </p:sp>
      <p:sp>
        <p:nvSpPr>
          <p:cNvPr id="15" name="Shape 13"/>
          <p:cNvSpPr/>
          <p:nvPr/>
        </p:nvSpPr>
        <p:spPr>
          <a:xfrm>
            <a:off x="635318" y="6895148"/>
            <a:ext cx="408384" cy="408384"/>
          </a:xfrm>
          <a:prstGeom prst="roundRect">
            <a:avLst>
              <a:gd name="adj" fmla="val 18668"/>
            </a:avLst>
          </a:prstGeom>
          <a:solidFill>
            <a:srgbClr val="2F1D63"/>
          </a:solidFill>
          <a:ln w="7620">
            <a:solidFill>
              <a:srgbClr val="48367C"/>
            </a:solidFill>
            <a:prstDash val="solid"/>
          </a:ln>
        </p:spPr>
      </p:sp>
      <p:sp>
        <p:nvSpPr>
          <p:cNvPr id="16" name="Text 14"/>
          <p:cNvSpPr/>
          <p:nvPr/>
        </p:nvSpPr>
        <p:spPr>
          <a:xfrm>
            <a:off x="761405" y="6956346"/>
            <a:ext cx="156091" cy="285869"/>
          </a:xfrm>
          <a:prstGeom prst="rect">
            <a:avLst/>
          </a:prstGeom>
          <a:noFill/>
          <a:ln/>
        </p:spPr>
        <p:txBody>
          <a:bodyPr wrap="none" lIns="0" tIns="0" rIns="0" bIns="0" rtlCol="0" anchor="t"/>
          <a:lstStyle/>
          <a:p>
            <a:pPr algn="ctr" indent="0" marL="0">
              <a:lnSpc>
                <a:spcPts val="2250"/>
              </a:lnSpc>
              <a:buNone/>
            </a:pPr>
            <a:r>
              <a:rPr lang="en-US" sz="2250" b="1" spc="-45" kern="0" dirty="0">
                <a:solidFill>
                  <a:srgbClr val="E0D6DE"/>
                </a:solidFill>
                <a:latin typeface="Petrona Bold" pitchFamily="34" charset="0"/>
                <a:ea typeface="Petrona Bold" pitchFamily="34" charset="-122"/>
                <a:cs typeface="Petrona Bold" pitchFamily="34" charset="-120"/>
              </a:rPr>
              <a:t>3</a:t>
            </a:r>
            <a:endParaRPr lang="en-US" sz="2250" dirty="0"/>
          </a:p>
        </p:txBody>
      </p:sp>
      <p:sp>
        <p:nvSpPr>
          <p:cNvPr id="17" name="Text 15"/>
          <p:cNvSpPr/>
          <p:nvPr/>
        </p:nvSpPr>
        <p:spPr>
          <a:xfrm>
            <a:off x="1225153" y="6895148"/>
            <a:ext cx="2382441" cy="297775"/>
          </a:xfrm>
          <a:prstGeom prst="rect">
            <a:avLst/>
          </a:prstGeom>
          <a:noFill/>
          <a:ln/>
        </p:spPr>
        <p:txBody>
          <a:bodyPr wrap="none" lIns="0" tIns="0" rIns="0" bIns="0" rtlCol="0" anchor="t"/>
          <a:lstStyle/>
          <a:p>
            <a:pPr indent="0" marL="0">
              <a:lnSpc>
                <a:spcPts val="2300"/>
              </a:lnSpc>
              <a:buNone/>
            </a:pPr>
            <a:r>
              <a:rPr lang="en-US" sz="1850" b="1" spc="-38" kern="0" dirty="0">
                <a:solidFill>
                  <a:srgbClr val="E0D6DE"/>
                </a:solidFill>
                <a:latin typeface="Petrona Bold" pitchFamily="34" charset="0"/>
                <a:ea typeface="Petrona Bold" pitchFamily="34" charset="-122"/>
                <a:cs typeface="Petrona Bold" pitchFamily="34" charset="-120"/>
              </a:rPr>
              <a:t>Test Accuracy: 83%</a:t>
            </a:r>
            <a:endParaRPr lang="en-US" sz="1850" dirty="0"/>
          </a:p>
        </p:txBody>
      </p:sp>
      <p:sp>
        <p:nvSpPr>
          <p:cNvPr id="18" name="Text 16"/>
          <p:cNvSpPr/>
          <p:nvPr/>
        </p:nvSpPr>
        <p:spPr>
          <a:xfrm>
            <a:off x="1225153" y="7301746"/>
            <a:ext cx="5999321" cy="290513"/>
          </a:xfrm>
          <a:prstGeom prst="rect">
            <a:avLst/>
          </a:prstGeom>
          <a:noFill/>
          <a:ln/>
        </p:spPr>
        <p:txBody>
          <a:bodyPr wrap="none" lIns="0" tIns="0" rIns="0" bIns="0" rtlCol="0" anchor="t"/>
          <a:lstStyle/>
          <a:p>
            <a:pPr indent="0" marL="0">
              <a:lnSpc>
                <a:spcPts val="2250"/>
              </a:lnSpc>
              <a:buNone/>
            </a:pPr>
            <a:r>
              <a:rPr lang="en-US" sz="1400" spc="-29" kern="0" dirty="0">
                <a:solidFill>
                  <a:srgbClr val="E0D6DE"/>
                </a:solidFill>
                <a:latin typeface="Inter" pitchFamily="34" charset="0"/>
                <a:ea typeface="Inter" pitchFamily="34" charset="-122"/>
                <a:cs typeface="Inter" pitchFamily="34" charset="-120"/>
              </a:rPr>
              <a:t>Robust performance on held-out test set</a:t>
            </a:r>
            <a:endParaRPr lang="en-US" sz="1400" dirty="0"/>
          </a:p>
        </p:txBody>
      </p:sp>
      <p:sp>
        <p:nvSpPr>
          <p:cNvPr id="19" name="Shape 17"/>
          <p:cNvSpPr/>
          <p:nvPr/>
        </p:nvSpPr>
        <p:spPr>
          <a:xfrm>
            <a:off x="7405926" y="6895148"/>
            <a:ext cx="408384" cy="408384"/>
          </a:xfrm>
          <a:prstGeom prst="roundRect">
            <a:avLst>
              <a:gd name="adj" fmla="val 18668"/>
            </a:avLst>
          </a:prstGeom>
          <a:solidFill>
            <a:srgbClr val="2F1D63"/>
          </a:solidFill>
          <a:ln w="7620">
            <a:solidFill>
              <a:srgbClr val="48367C"/>
            </a:solidFill>
            <a:prstDash val="solid"/>
          </a:ln>
        </p:spPr>
      </p:sp>
      <p:sp>
        <p:nvSpPr>
          <p:cNvPr id="20" name="Text 18"/>
          <p:cNvSpPr/>
          <p:nvPr/>
        </p:nvSpPr>
        <p:spPr>
          <a:xfrm>
            <a:off x="7535942" y="6956346"/>
            <a:ext cx="148352" cy="285869"/>
          </a:xfrm>
          <a:prstGeom prst="rect">
            <a:avLst/>
          </a:prstGeom>
          <a:noFill/>
          <a:ln/>
        </p:spPr>
        <p:txBody>
          <a:bodyPr wrap="none" lIns="0" tIns="0" rIns="0" bIns="0" rtlCol="0" anchor="t"/>
          <a:lstStyle/>
          <a:p>
            <a:pPr algn="ctr" indent="0" marL="0">
              <a:lnSpc>
                <a:spcPts val="2250"/>
              </a:lnSpc>
              <a:buNone/>
            </a:pPr>
            <a:r>
              <a:rPr lang="en-US" sz="2250" b="1" spc="-45" kern="0" dirty="0">
                <a:solidFill>
                  <a:srgbClr val="E0D6DE"/>
                </a:solidFill>
                <a:latin typeface="Petrona Bold" pitchFamily="34" charset="0"/>
                <a:ea typeface="Petrona Bold" pitchFamily="34" charset="-122"/>
                <a:cs typeface="Petrona Bold" pitchFamily="34" charset="-120"/>
              </a:rPr>
              <a:t>4</a:t>
            </a:r>
            <a:endParaRPr lang="en-US" sz="2250" dirty="0"/>
          </a:p>
        </p:txBody>
      </p:sp>
      <p:sp>
        <p:nvSpPr>
          <p:cNvPr id="21" name="Text 19"/>
          <p:cNvSpPr/>
          <p:nvPr/>
        </p:nvSpPr>
        <p:spPr>
          <a:xfrm>
            <a:off x="7995761" y="6895148"/>
            <a:ext cx="3276838" cy="297775"/>
          </a:xfrm>
          <a:prstGeom prst="rect">
            <a:avLst/>
          </a:prstGeom>
          <a:noFill/>
          <a:ln/>
        </p:spPr>
        <p:txBody>
          <a:bodyPr wrap="none" lIns="0" tIns="0" rIns="0" bIns="0" rtlCol="0" anchor="t"/>
          <a:lstStyle/>
          <a:p>
            <a:pPr indent="0" marL="0">
              <a:lnSpc>
                <a:spcPts val="2300"/>
              </a:lnSpc>
              <a:buNone/>
            </a:pPr>
            <a:r>
              <a:rPr lang="en-US" sz="1850" b="1" spc="-38" kern="0" dirty="0">
                <a:solidFill>
                  <a:srgbClr val="E0D6DE"/>
                </a:solidFill>
                <a:latin typeface="Petrona Bold" pitchFamily="34" charset="0"/>
                <a:ea typeface="Petrona Bold" pitchFamily="34" charset="-122"/>
                <a:cs typeface="Petrona Bold" pitchFamily="34" charset="-120"/>
              </a:rPr>
              <a:t>App Testing Data Accuracy: 81%</a:t>
            </a:r>
            <a:endParaRPr lang="en-US" sz="1850" dirty="0"/>
          </a:p>
        </p:txBody>
      </p:sp>
      <p:sp>
        <p:nvSpPr>
          <p:cNvPr id="22" name="Text 20"/>
          <p:cNvSpPr/>
          <p:nvPr/>
        </p:nvSpPr>
        <p:spPr>
          <a:xfrm>
            <a:off x="7995761" y="7301746"/>
            <a:ext cx="5999321" cy="290513"/>
          </a:xfrm>
          <a:prstGeom prst="rect">
            <a:avLst/>
          </a:prstGeom>
          <a:noFill/>
          <a:ln/>
        </p:spPr>
        <p:txBody>
          <a:bodyPr wrap="none" lIns="0" tIns="0" rIns="0" bIns="0" rtlCol="0" anchor="t"/>
          <a:lstStyle/>
          <a:p>
            <a:pPr indent="0" marL="0">
              <a:lnSpc>
                <a:spcPts val="2250"/>
              </a:lnSpc>
              <a:buNone/>
            </a:pPr>
            <a:r>
              <a:rPr lang="en-US" sz="1400" spc="-29" kern="0" dirty="0">
                <a:solidFill>
                  <a:srgbClr val="E0D6DE"/>
                </a:solidFill>
                <a:latin typeface="Inter" pitchFamily="34" charset="0"/>
                <a:ea typeface="Inter" pitchFamily="34" charset="-122"/>
                <a:cs typeface="Inter" pitchFamily="34" charset="-120"/>
              </a:rPr>
              <a:t>Marked improvement in real-world scenario performance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25542" y="445532"/>
            <a:ext cx="7531894" cy="492681"/>
          </a:xfrm>
          <a:prstGeom prst="rect">
            <a:avLst/>
          </a:prstGeom>
          <a:noFill/>
          <a:ln/>
        </p:spPr>
        <p:txBody>
          <a:bodyPr wrap="none" lIns="0" tIns="0" rIns="0" bIns="0" rtlCol="0" anchor="t"/>
          <a:lstStyle/>
          <a:p>
            <a:pPr indent="0" marL="0">
              <a:lnSpc>
                <a:spcPts val="3850"/>
              </a:lnSpc>
              <a:buNone/>
            </a:pPr>
            <a:r>
              <a:rPr lang="en-US" sz="3100" b="1" spc="-62" kern="0" dirty="0">
                <a:solidFill>
                  <a:srgbClr val="FF8AAF"/>
                </a:solidFill>
                <a:latin typeface="Petrona Bold" pitchFamily="34" charset="0"/>
                <a:ea typeface="Petrona Bold" pitchFamily="34" charset="-122"/>
                <a:cs typeface="Petrona Bold" pitchFamily="34" charset="-120"/>
              </a:rPr>
              <a:t>Experiment 5: Exploring Other Base Models</a:t>
            </a:r>
            <a:endParaRPr lang="en-US" sz="3100" dirty="0"/>
          </a:p>
        </p:txBody>
      </p:sp>
      <p:sp>
        <p:nvSpPr>
          <p:cNvPr id="3" name="Text 1"/>
          <p:cNvSpPr/>
          <p:nvPr/>
        </p:nvSpPr>
        <p:spPr>
          <a:xfrm>
            <a:off x="525542" y="1238488"/>
            <a:ext cx="13579316" cy="480298"/>
          </a:xfrm>
          <a:prstGeom prst="rect">
            <a:avLst/>
          </a:prstGeom>
          <a:noFill/>
          <a:ln/>
        </p:spPr>
        <p:txBody>
          <a:bodyPr wrap="square" lIns="0" tIns="0" rIns="0" bIns="0" rtlCol="0" anchor="t"/>
          <a:lstStyle/>
          <a:p>
            <a:pPr indent="0" marL="0">
              <a:lnSpc>
                <a:spcPts val="1850"/>
              </a:lnSpc>
              <a:buNone/>
            </a:pPr>
            <a:r>
              <a:rPr lang="en-US" sz="1150" spc="-24" kern="0" dirty="0">
                <a:solidFill>
                  <a:srgbClr val="E0D6DE"/>
                </a:solidFill>
                <a:latin typeface="Inter" pitchFamily="34" charset="0"/>
                <a:ea typeface="Inter" pitchFamily="34" charset="-122"/>
                <a:cs typeface="Inter" pitchFamily="34" charset="-120"/>
              </a:rPr>
              <a:t>In our final experiment, we broadened our scope to explore various pre-trained models and optimization techniques. We tested a range of popular architectures including MobileNet V2, DenseNet variants (121, 169, 201), VGG (16 and 19), and ResNet. This comprehensive evaluation aimed to identify the most suitable base model for our fish quality classification task.</a:t>
            </a:r>
            <a:endParaRPr lang="en-US" sz="1150" dirty="0"/>
          </a:p>
        </p:txBody>
      </p:sp>
      <p:sp>
        <p:nvSpPr>
          <p:cNvPr id="4" name="Text 2"/>
          <p:cNvSpPr/>
          <p:nvPr/>
        </p:nvSpPr>
        <p:spPr>
          <a:xfrm>
            <a:off x="525542" y="1887617"/>
            <a:ext cx="13579316" cy="480298"/>
          </a:xfrm>
          <a:prstGeom prst="rect">
            <a:avLst/>
          </a:prstGeom>
          <a:noFill/>
          <a:ln/>
        </p:spPr>
        <p:txBody>
          <a:bodyPr wrap="square" lIns="0" tIns="0" rIns="0" bIns="0" rtlCol="0" anchor="t"/>
          <a:lstStyle/>
          <a:p>
            <a:pPr indent="0" marL="0">
              <a:lnSpc>
                <a:spcPts val="1850"/>
              </a:lnSpc>
              <a:buNone/>
            </a:pPr>
            <a:r>
              <a:rPr lang="en-US" sz="1150" spc="-24" kern="0" dirty="0">
                <a:solidFill>
                  <a:srgbClr val="E0D6DE"/>
                </a:solidFill>
                <a:latin typeface="Inter" pitchFamily="34" charset="0"/>
                <a:ea typeface="Inter" pitchFamily="34" charset="-122"/>
                <a:cs typeface="Inter" pitchFamily="34" charset="-120"/>
              </a:rPr>
              <a:t>We also experimented with different learning rate schedulers, comparing the effectiveness of Exponential Decay against ReduceLROnPlateau. Our findings indicated that ReduceLROnPlateau was more effective for our specific use case, adapting better to the training dynamics of our fish classification model.</a:t>
            </a:r>
            <a:endParaRPr lang="en-US" sz="1150" dirty="0"/>
          </a:p>
        </p:txBody>
      </p:sp>
      <p:sp>
        <p:nvSpPr>
          <p:cNvPr id="5" name="Text 3"/>
          <p:cNvSpPr/>
          <p:nvPr/>
        </p:nvSpPr>
        <p:spPr>
          <a:xfrm>
            <a:off x="525542" y="2536746"/>
            <a:ext cx="13579316" cy="720447"/>
          </a:xfrm>
          <a:prstGeom prst="rect">
            <a:avLst/>
          </a:prstGeom>
          <a:noFill/>
          <a:ln/>
        </p:spPr>
        <p:txBody>
          <a:bodyPr wrap="square" lIns="0" tIns="0" rIns="0" bIns="0" rtlCol="0" anchor="t"/>
          <a:lstStyle/>
          <a:p>
            <a:pPr indent="0" marL="0">
              <a:lnSpc>
                <a:spcPts val="1850"/>
              </a:lnSpc>
              <a:buNone/>
            </a:pPr>
            <a:r>
              <a:rPr lang="en-US" sz="1150" spc="-24" kern="0" dirty="0">
                <a:solidFill>
                  <a:srgbClr val="E0D6DE"/>
                </a:solidFill>
                <a:latin typeface="Inter" pitchFamily="34" charset="0"/>
                <a:ea typeface="Inter" pitchFamily="34" charset="-122"/>
                <a:cs typeface="Inter" pitchFamily="34" charset="-120"/>
              </a:rPr>
              <a:t>An interesting aspect of this experiment was our investigation into the use of different model weights. We compared the performance of models initialized with both checkpoint weights and final weights. While both options proved viable for fine-tuning, we found that checkpoint weights offered the advantage of resuming training from an earlier point, providing flexibility in case of interruptions or when exploring different training trajectories.</a:t>
            </a:r>
            <a:endParaRPr lang="en-US" sz="1150" dirty="0"/>
          </a:p>
        </p:txBody>
      </p:sp>
      <p:sp>
        <p:nvSpPr>
          <p:cNvPr id="6" name="Text 4"/>
          <p:cNvSpPr/>
          <p:nvPr/>
        </p:nvSpPr>
        <p:spPr>
          <a:xfrm>
            <a:off x="525542" y="3426023"/>
            <a:ext cx="13579316" cy="480298"/>
          </a:xfrm>
          <a:prstGeom prst="rect">
            <a:avLst/>
          </a:prstGeom>
          <a:noFill/>
          <a:ln/>
        </p:spPr>
        <p:txBody>
          <a:bodyPr wrap="square" lIns="0" tIns="0" rIns="0" bIns="0" rtlCol="0" anchor="t"/>
          <a:lstStyle/>
          <a:p>
            <a:pPr indent="0" marL="0">
              <a:lnSpc>
                <a:spcPts val="1850"/>
              </a:lnSpc>
              <a:buNone/>
            </a:pPr>
            <a:r>
              <a:rPr lang="en-US" sz="1150" spc="-24" kern="0" dirty="0">
                <a:solidFill>
                  <a:srgbClr val="E0D6DE"/>
                </a:solidFill>
                <a:latin typeface="Inter" pitchFamily="34" charset="0"/>
                <a:ea typeface="Inter" pitchFamily="34" charset="-122"/>
                <a:cs typeface="Inter" pitchFamily="34" charset="-120"/>
              </a:rPr>
              <a:t>This final experiment not only helped us refine our model selection but also provided valuable insights into the nuances of transfer learning and optimization strategies in the context of fish quality assessment.</a:t>
            </a:r>
            <a:endParaRPr lang="en-US" sz="1150" dirty="0"/>
          </a:p>
        </p:txBody>
      </p:sp>
      <p:pic>
        <p:nvPicPr>
          <p:cNvPr id="7" name="Image 0" descr="preencoded.png">    </p:cNvPr>
          <p:cNvPicPr>
            <a:picLocks noChangeAspect="1"/>
          </p:cNvPicPr>
          <p:nvPr/>
        </p:nvPicPr>
        <p:blipFill>
          <a:blip r:embed="rId1"/>
          <a:stretch>
            <a:fillRect/>
          </a:stretch>
        </p:blipFill>
        <p:spPr>
          <a:xfrm>
            <a:off x="525542" y="4075152"/>
            <a:ext cx="4376261" cy="2704624"/>
          </a:xfrm>
          <a:prstGeom prst="rect">
            <a:avLst/>
          </a:prstGeom>
        </p:spPr>
      </p:pic>
      <p:sp>
        <p:nvSpPr>
          <p:cNvPr id="8" name="Text 5"/>
          <p:cNvSpPr/>
          <p:nvPr/>
        </p:nvSpPr>
        <p:spPr>
          <a:xfrm>
            <a:off x="525542" y="6967418"/>
            <a:ext cx="2805589" cy="246221"/>
          </a:xfrm>
          <a:prstGeom prst="rect">
            <a:avLst/>
          </a:prstGeom>
          <a:noFill/>
          <a:ln/>
        </p:spPr>
        <p:txBody>
          <a:bodyPr wrap="none" lIns="0" tIns="0" rIns="0" bIns="0" rtlCol="0" anchor="t"/>
          <a:lstStyle/>
          <a:p>
            <a:pPr algn="l" indent="0" marL="0">
              <a:lnSpc>
                <a:spcPts val="1900"/>
              </a:lnSpc>
              <a:buNone/>
            </a:pPr>
            <a:r>
              <a:rPr lang="en-US" sz="1550" b="1" spc="-31" kern="0" dirty="0">
                <a:solidFill>
                  <a:srgbClr val="E0D6DE"/>
                </a:solidFill>
                <a:latin typeface="Petrona Bold" pitchFamily="34" charset="0"/>
                <a:ea typeface="Petrona Bold" pitchFamily="34" charset="-122"/>
                <a:cs typeface="Petrona Bold" pitchFamily="34" charset="-120"/>
              </a:rPr>
              <a:t>Model Architecture Comparison</a:t>
            </a:r>
            <a:endParaRPr lang="en-US" sz="1550" dirty="0"/>
          </a:p>
        </p:txBody>
      </p:sp>
      <p:sp>
        <p:nvSpPr>
          <p:cNvPr id="9" name="Text 6"/>
          <p:cNvSpPr/>
          <p:nvPr/>
        </p:nvSpPr>
        <p:spPr>
          <a:xfrm>
            <a:off x="525542" y="7303651"/>
            <a:ext cx="4376261" cy="480298"/>
          </a:xfrm>
          <a:prstGeom prst="rect">
            <a:avLst/>
          </a:prstGeom>
          <a:noFill/>
          <a:ln/>
        </p:spPr>
        <p:txBody>
          <a:bodyPr wrap="square" lIns="0" tIns="0" rIns="0" bIns="0" rtlCol="0" anchor="t"/>
          <a:lstStyle/>
          <a:p>
            <a:pPr algn="l" indent="0" marL="0">
              <a:lnSpc>
                <a:spcPts val="1850"/>
              </a:lnSpc>
              <a:buNone/>
            </a:pPr>
            <a:r>
              <a:rPr lang="en-US" sz="1150" spc="-24" kern="0" dirty="0">
                <a:solidFill>
                  <a:srgbClr val="E0D6DE"/>
                </a:solidFill>
                <a:latin typeface="Inter" pitchFamily="34" charset="0"/>
                <a:ea typeface="Inter" pitchFamily="34" charset="-122"/>
                <a:cs typeface="Inter" pitchFamily="34" charset="-120"/>
              </a:rPr>
              <a:t>Visual representation of performance metrics across different pre-trained models tested in the experiment.</a:t>
            </a:r>
            <a:endParaRPr lang="en-US" sz="1150" dirty="0"/>
          </a:p>
        </p:txBody>
      </p:sp>
      <p:pic>
        <p:nvPicPr>
          <p:cNvPr id="10" name="Image 1" descr="preencoded.png">    </p:cNvPr>
          <p:cNvPicPr>
            <a:picLocks noChangeAspect="1"/>
          </p:cNvPicPr>
          <p:nvPr/>
        </p:nvPicPr>
        <p:blipFill>
          <a:blip r:embed="rId2"/>
          <a:stretch>
            <a:fillRect/>
          </a:stretch>
        </p:blipFill>
        <p:spPr>
          <a:xfrm>
            <a:off x="5126950" y="4075152"/>
            <a:ext cx="4376380" cy="2704743"/>
          </a:xfrm>
          <a:prstGeom prst="rect">
            <a:avLst/>
          </a:prstGeom>
        </p:spPr>
      </p:pic>
      <p:sp>
        <p:nvSpPr>
          <p:cNvPr id="11" name="Text 7"/>
          <p:cNvSpPr/>
          <p:nvPr/>
        </p:nvSpPr>
        <p:spPr>
          <a:xfrm>
            <a:off x="5126950" y="6967538"/>
            <a:ext cx="3245168" cy="246221"/>
          </a:xfrm>
          <a:prstGeom prst="rect">
            <a:avLst/>
          </a:prstGeom>
          <a:noFill/>
          <a:ln/>
        </p:spPr>
        <p:txBody>
          <a:bodyPr wrap="none" lIns="0" tIns="0" rIns="0" bIns="0" rtlCol="0" anchor="t"/>
          <a:lstStyle/>
          <a:p>
            <a:pPr algn="l" indent="0" marL="0">
              <a:lnSpc>
                <a:spcPts val="1900"/>
              </a:lnSpc>
              <a:buNone/>
            </a:pPr>
            <a:r>
              <a:rPr lang="en-US" sz="1550" b="1" spc="-31" kern="0" dirty="0">
                <a:solidFill>
                  <a:srgbClr val="E0D6DE"/>
                </a:solidFill>
                <a:latin typeface="Petrona Bold" pitchFamily="34" charset="0"/>
                <a:ea typeface="Petrona Bold" pitchFamily="34" charset="-122"/>
                <a:cs typeface="Petrona Bold" pitchFamily="34" charset="-120"/>
              </a:rPr>
              <a:t>Learning Rate Scheduler Comparison</a:t>
            </a:r>
            <a:endParaRPr lang="en-US" sz="1550" dirty="0"/>
          </a:p>
        </p:txBody>
      </p:sp>
      <p:sp>
        <p:nvSpPr>
          <p:cNvPr id="12" name="Text 8"/>
          <p:cNvSpPr/>
          <p:nvPr/>
        </p:nvSpPr>
        <p:spPr>
          <a:xfrm>
            <a:off x="5126950" y="7303770"/>
            <a:ext cx="4376380" cy="480298"/>
          </a:xfrm>
          <a:prstGeom prst="rect">
            <a:avLst/>
          </a:prstGeom>
          <a:noFill/>
          <a:ln/>
        </p:spPr>
        <p:txBody>
          <a:bodyPr wrap="square" lIns="0" tIns="0" rIns="0" bIns="0" rtlCol="0" anchor="t"/>
          <a:lstStyle/>
          <a:p>
            <a:pPr algn="l" indent="0" marL="0">
              <a:lnSpc>
                <a:spcPts val="1850"/>
              </a:lnSpc>
              <a:buNone/>
            </a:pPr>
            <a:r>
              <a:rPr lang="en-US" sz="1150" spc="-24" kern="0" dirty="0">
                <a:solidFill>
                  <a:srgbClr val="E0D6DE"/>
                </a:solidFill>
                <a:latin typeface="Inter" pitchFamily="34" charset="0"/>
                <a:ea typeface="Inter" pitchFamily="34" charset="-122"/>
                <a:cs typeface="Inter" pitchFamily="34" charset="-120"/>
              </a:rPr>
              <a:t>Illustration of how different learning rate schedulers affected the training process over time.</a:t>
            </a:r>
            <a:endParaRPr lang="en-US" sz="1150" dirty="0"/>
          </a:p>
        </p:txBody>
      </p:sp>
      <p:pic>
        <p:nvPicPr>
          <p:cNvPr id="13" name="Image 2" descr="preencoded.png">    </p:cNvPr>
          <p:cNvPicPr>
            <a:picLocks noChangeAspect="1"/>
          </p:cNvPicPr>
          <p:nvPr/>
        </p:nvPicPr>
        <p:blipFill>
          <a:blip r:embed="rId3"/>
          <a:stretch>
            <a:fillRect/>
          </a:stretch>
        </p:blipFill>
        <p:spPr>
          <a:xfrm>
            <a:off x="9728478" y="4075152"/>
            <a:ext cx="4376380" cy="2704743"/>
          </a:xfrm>
          <a:prstGeom prst="rect">
            <a:avLst/>
          </a:prstGeom>
        </p:spPr>
      </p:pic>
      <p:sp>
        <p:nvSpPr>
          <p:cNvPr id="14" name="Text 9"/>
          <p:cNvSpPr/>
          <p:nvPr/>
        </p:nvSpPr>
        <p:spPr>
          <a:xfrm>
            <a:off x="9728478" y="6967538"/>
            <a:ext cx="2683669" cy="246221"/>
          </a:xfrm>
          <a:prstGeom prst="rect">
            <a:avLst/>
          </a:prstGeom>
          <a:noFill/>
          <a:ln/>
        </p:spPr>
        <p:txBody>
          <a:bodyPr wrap="none" lIns="0" tIns="0" rIns="0" bIns="0" rtlCol="0" anchor="t"/>
          <a:lstStyle/>
          <a:p>
            <a:pPr algn="l" indent="0" marL="0">
              <a:lnSpc>
                <a:spcPts val="1900"/>
              </a:lnSpc>
              <a:buNone/>
            </a:pPr>
            <a:r>
              <a:rPr lang="en-US" sz="1550" b="1" spc="-31" kern="0" dirty="0">
                <a:solidFill>
                  <a:srgbClr val="E0D6DE"/>
                </a:solidFill>
                <a:latin typeface="Petrona Bold" pitchFamily="34" charset="0"/>
                <a:ea typeface="Petrona Bold" pitchFamily="34" charset="-122"/>
                <a:cs typeface="Petrona Bold" pitchFamily="34" charset="-120"/>
              </a:rPr>
              <a:t>Weight Initialization Strategies</a:t>
            </a:r>
            <a:endParaRPr lang="en-US" sz="1550" dirty="0"/>
          </a:p>
        </p:txBody>
      </p:sp>
      <p:sp>
        <p:nvSpPr>
          <p:cNvPr id="15" name="Text 10"/>
          <p:cNvSpPr/>
          <p:nvPr/>
        </p:nvSpPr>
        <p:spPr>
          <a:xfrm>
            <a:off x="9728478" y="7303770"/>
            <a:ext cx="4376380" cy="480298"/>
          </a:xfrm>
          <a:prstGeom prst="rect">
            <a:avLst/>
          </a:prstGeom>
          <a:noFill/>
          <a:ln/>
        </p:spPr>
        <p:txBody>
          <a:bodyPr wrap="square" lIns="0" tIns="0" rIns="0" bIns="0" rtlCol="0" anchor="t"/>
          <a:lstStyle/>
          <a:p>
            <a:pPr algn="l" indent="0" marL="0">
              <a:lnSpc>
                <a:spcPts val="1850"/>
              </a:lnSpc>
              <a:buNone/>
            </a:pPr>
            <a:r>
              <a:rPr lang="en-US" sz="1150" spc="-24" kern="0" dirty="0">
                <a:solidFill>
                  <a:srgbClr val="E0D6DE"/>
                </a:solidFill>
                <a:latin typeface="Inter" pitchFamily="34" charset="0"/>
                <a:ea typeface="Inter" pitchFamily="34" charset="-122"/>
                <a:cs typeface="Inter" pitchFamily="34" charset="-120"/>
              </a:rPr>
              <a:t>Conceptual representation of using checkpoint weights versus final weights for model initialization and fine-tuning.</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2024-10-22T06:34:27Z</dcterms:created>
  <dcterms:modified xsi:type="dcterms:W3CDTF">2024-10-22T06:34:27Z</dcterms:modified>
</cp:coreProperties>
</file>