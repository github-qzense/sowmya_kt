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2fb4a5cd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2fb4a5cd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2fb4a5cd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2fb4a5cd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2fb4a5cd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2fb4a5c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2fb4a5cd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2fb4a5cd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2fb4a5cd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2fb4a5cd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2fb4a5cdb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2fb4a5cdb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2fb4a5cdb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2fb4a5cdb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2fb4a5cdb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2fb4a5cdb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2fb4a5cdb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2fb4a5cdb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2fb4a5cdb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2fb4a5cdb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2fb4a5cdb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2fb4a5cdb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2fb4a5cdb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2fb4a5cdb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2fb4a5cdb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2fb4a5cdb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2fb4a5cdb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2fb4a5cdb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2fb4a5cdb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2fb4a5cdb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2fb4a5cdb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2fb4a5cdb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2fb4a5cdb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2fb4a5cdb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2fb4a5cdb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2fb4a5cdb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2fb4a5cdb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2fb4a5cdb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773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Early Fish Degradation Trigger </a:t>
            </a:r>
            <a:endParaRPr sz="3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Alert System</a:t>
            </a:r>
            <a:endParaRPr sz="3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29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Automated Early Warning for Seer &amp; Tuna Freshness</a:t>
            </a:r>
            <a:endParaRPr sz="1500"/>
          </a:p>
        </p:txBody>
      </p:sp>
      <p:sp>
        <p:nvSpPr>
          <p:cNvPr id="56" name="Google Shape;56;p13"/>
          <p:cNvSpPr txBox="1"/>
          <p:nvPr/>
        </p:nvSpPr>
        <p:spPr>
          <a:xfrm>
            <a:off x="570625" y="3813175"/>
            <a:ext cx="2871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Author:</a:t>
            </a:r>
            <a:r>
              <a:rPr lang="en" sz="1500">
                <a:solidFill>
                  <a:schemeClr val="dk1"/>
                </a:solidFill>
              </a:rPr>
              <a:t> Sowmya Maddala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Date:</a:t>
            </a:r>
            <a:r>
              <a:rPr lang="en" sz="1500">
                <a:solidFill>
                  <a:schemeClr val="dk1"/>
                </a:solidFill>
              </a:rPr>
              <a:t> August 2025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Fish spoilage is fast, costly, and impacts safety.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Traditional inspections are slow, subjective, and reactive.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Our system uses multiple sensors to detect early spoilage.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Provides </a:t>
            </a:r>
            <a:r>
              <a:rPr b="1" lang="en" sz="1600">
                <a:solidFill>
                  <a:schemeClr val="dk1"/>
                </a:solidFill>
              </a:rPr>
              <a:t>automated, real-time alerts</a:t>
            </a:r>
            <a:r>
              <a:rPr lang="en" sz="1600">
                <a:solidFill>
                  <a:schemeClr val="dk1"/>
                </a:solidFill>
              </a:rPr>
              <a:t>, enabling proactive actions.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Problem:</a:t>
            </a:r>
            <a:r>
              <a:rPr lang="en" sz="1600">
                <a:solidFill>
                  <a:schemeClr val="dk1"/>
                </a:solidFill>
              </a:rPr>
              <a:t> Delays in detecting spoilage lead to financial loss and safety risks.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Current Limitations:</a:t>
            </a:r>
            <a:r>
              <a:rPr lang="en" sz="1600">
                <a:solidFill>
                  <a:schemeClr val="dk1"/>
                </a:solidFill>
              </a:rPr>
              <a:t> Manual checks are inconsistent and slow.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Goal:</a:t>
            </a:r>
            <a:r>
              <a:rPr lang="en" sz="1600">
                <a:solidFill>
                  <a:schemeClr val="dk1"/>
                </a:solidFill>
              </a:rPr>
              <a:t> Early detection using sensor-driven, data-based alerts.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16550"/>
            <a:ext cx="7243500" cy="3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Species:</a:t>
            </a:r>
            <a:r>
              <a:rPr lang="en" sz="1600">
                <a:solidFill>
                  <a:schemeClr val="dk1"/>
                </a:solidFill>
              </a:rPr>
              <a:t> Seer (229 points) &amp; Tuna (195 points)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Timeline:</a:t>
            </a:r>
            <a:r>
              <a:rPr lang="en" sz="1600">
                <a:solidFill>
                  <a:schemeClr val="dk1"/>
                </a:solidFill>
              </a:rPr>
              <a:t> September 2021, from fresh → spoilt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Sensors:</a:t>
            </a:r>
            <a:r>
              <a:rPr lang="en" sz="1600">
                <a:solidFill>
                  <a:schemeClr val="dk1"/>
                </a:solidFill>
              </a:rPr>
              <a:t> H₂S, NH₃, Temperature, Humidity, CO₂, O₂, VOC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Frequency:</a:t>
            </a:r>
            <a:r>
              <a:rPr lang="en" sz="1600">
                <a:solidFill>
                  <a:schemeClr val="dk1"/>
                </a:solidFill>
              </a:rPr>
              <a:t> Every 5 minutes (configurable)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Captures full degradation progression for model training.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Overview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1:</a:t>
            </a:r>
            <a:r>
              <a:rPr lang="en" sz="1600">
                <a:solidFill>
                  <a:schemeClr val="dk1"/>
                </a:solidFill>
              </a:rPr>
              <a:t> Data Cleaning &amp; Imputation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2:</a:t>
            </a:r>
            <a:r>
              <a:rPr lang="en" sz="1600">
                <a:solidFill>
                  <a:schemeClr val="dk1"/>
                </a:solidFill>
              </a:rPr>
              <a:t> Compute Rolling Statistical Features (mean, median, z-score, ROC, relative ROC) and their quantiles.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3:</a:t>
            </a:r>
            <a:r>
              <a:rPr lang="en" sz="1600">
                <a:solidFill>
                  <a:schemeClr val="dk1"/>
                </a:solidFill>
              </a:rPr>
              <a:t> Initial Change Point Detection (per sensor)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4:</a:t>
            </a:r>
            <a:r>
              <a:rPr lang="en" sz="1600">
                <a:solidFill>
                  <a:schemeClr val="dk1"/>
                </a:solidFill>
              </a:rPr>
              <a:t> Multi-statistic Consensus Filtering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5:</a:t>
            </a:r>
            <a:r>
              <a:rPr lang="en" sz="1600">
                <a:solidFill>
                  <a:schemeClr val="dk1"/>
                </a:solidFill>
              </a:rPr>
              <a:t> Multi-sensor Fusion (≥2 sensors confirm)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Step 6:</a:t>
            </a:r>
            <a:r>
              <a:rPr lang="en" sz="1600">
                <a:solidFill>
                  <a:schemeClr val="dk1"/>
                </a:solidFill>
              </a:rPr>
              <a:t> Model-based Confirmation (spoiling indices &amp; levels)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1" name="Google Shape;81;p17"/>
          <p:cNvSpPr/>
          <p:nvPr/>
        </p:nvSpPr>
        <p:spPr>
          <a:xfrm>
            <a:off x="523100" y="4092800"/>
            <a:ext cx="763500" cy="34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1766000" y="4092800"/>
            <a:ext cx="763500" cy="34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Stats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3008900" y="4092800"/>
            <a:ext cx="763500" cy="34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</a:t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4251800" y="4092800"/>
            <a:ext cx="763500" cy="34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Fusion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5538050" y="4092800"/>
            <a:ext cx="763500" cy="34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1388500" y="4155000"/>
            <a:ext cx="3213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3826900" y="4155000"/>
            <a:ext cx="3213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2607700" y="4155000"/>
            <a:ext cx="3213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5122300" y="4155000"/>
            <a:ext cx="321300" cy="20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Rolling Statistical Features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Mean &amp; Median:</a:t>
            </a:r>
            <a:r>
              <a:rPr lang="en" sz="1600">
                <a:solidFill>
                  <a:schemeClr val="dk1"/>
                </a:solidFill>
              </a:rPr>
              <a:t> track gradual drift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Z-score:</a:t>
            </a:r>
            <a:r>
              <a:rPr lang="en" sz="1600">
                <a:solidFill>
                  <a:schemeClr val="dk1"/>
                </a:solidFill>
              </a:rPr>
              <a:t> identifies deviations from local trend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Rate of Change (ROC):</a:t>
            </a:r>
            <a:r>
              <a:rPr lang="en" sz="1600">
                <a:solidFill>
                  <a:schemeClr val="dk1"/>
                </a:solidFill>
              </a:rPr>
              <a:t> detects sudden spikes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Relative ROC:</a:t>
            </a:r>
            <a:r>
              <a:rPr lang="en" sz="1600">
                <a:solidFill>
                  <a:schemeClr val="dk1"/>
                </a:solidFill>
              </a:rPr>
              <a:t> captures percentage changes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Dynamic Thresholds:</a:t>
            </a:r>
            <a:r>
              <a:rPr lang="en" sz="1600">
                <a:solidFill>
                  <a:schemeClr val="dk1"/>
                </a:solidFill>
              </a:rPr>
              <a:t> quantiles adapt to trends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Point Detection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Candidate CP: </a:t>
            </a:r>
            <a:r>
              <a:rPr lang="en" sz="1600">
                <a:solidFill>
                  <a:schemeClr val="dk1"/>
                </a:solidFill>
              </a:rPr>
              <a:t>rolling statistic exceeds local threshold ≥ 30 min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Per-sensor consensus: </a:t>
            </a:r>
            <a:r>
              <a:rPr lang="en" sz="1600">
                <a:solidFill>
                  <a:schemeClr val="dk1"/>
                </a:solidFill>
              </a:rPr>
              <a:t>≥2 statistics agree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Multi-sensor fusion: </a:t>
            </a:r>
            <a:r>
              <a:rPr lang="en" sz="1600">
                <a:solidFill>
                  <a:schemeClr val="dk1"/>
                </a:solidFill>
              </a:rPr>
              <a:t>≥2 sensors must detect CP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1-hour minimum separation after final CP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Engineering</a:t>
            </a:r>
            <a:endParaRPr/>
          </a:p>
        </p:txBody>
      </p:sp>
      <p:pic>
        <p:nvPicPr>
          <p:cNvPr id="123" name="Google Shape;123;p24" title="tuna spoilage level prediction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1950" y="1017725"/>
            <a:ext cx="4360324" cy="352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334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Spoilage Index (0–1):</a:t>
            </a:r>
            <a:r>
              <a:rPr lang="en" sz="1600">
                <a:solidFill>
                  <a:schemeClr val="dk1"/>
                </a:solidFill>
              </a:rPr>
              <a:t> Linear, Sigmoid, Exponential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Spoilage Levels (0–2):</a:t>
            </a:r>
            <a:r>
              <a:rPr lang="en" sz="1600">
                <a:solidFill>
                  <a:schemeClr val="dk1"/>
                </a:solidFill>
              </a:rPr>
              <a:t> Fresh, Medium, Spoiled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Time-to-Spoil:</a:t>
            </a:r>
            <a:r>
              <a:rPr lang="en" sz="1600">
                <a:solidFill>
                  <a:schemeClr val="dk1"/>
                </a:solidFill>
              </a:rPr>
              <a:t> Remaining shelf life estimation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1355025" y="226850"/>
            <a:ext cx="39357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Spoilage Index Predictions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Layer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Regression Models: Linear, Random Forest, Gradient Boosting → spoilage index &amp; time-to-spoil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Classification Models: Random Forest, SVM → spoilage levels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Model Gating Thresholds:</a:t>
            </a:r>
            <a:r>
              <a:rPr lang="en" sz="1600">
                <a:solidFill>
                  <a:schemeClr val="dk1"/>
                </a:solidFill>
              </a:rPr>
              <a:t> Linear ≥0.3, Sigmoid ≥0.3, Exponential ≥0.1, Level ≥1.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Insights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Early detection several hours before visible spoilage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Reduced false positives by ~40%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ROC &amp; rROC most impactful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Exponential behavior confirmed for H₂S &amp; NH₃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Impact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Waste Reduction:</a:t>
            </a:r>
            <a:r>
              <a:rPr lang="en" sz="1600">
                <a:solidFill>
                  <a:schemeClr val="dk1"/>
                </a:solidFill>
              </a:rPr>
              <a:t> remove spoilt lots early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Supply Chain Efficiency:</a:t>
            </a:r>
            <a:r>
              <a:rPr lang="en" sz="1600">
                <a:solidFill>
                  <a:schemeClr val="dk1"/>
                </a:solidFill>
              </a:rPr>
              <a:t> reroute or sell early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Food Safety:</a:t>
            </a:r>
            <a:r>
              <a:rPr lang="en" sz="1600">
                <a:solidFill>
                  <a:schemeClr val="dk1"/>
                </a:solidFill>
              </a:rPr>
              <a:t> prevent spoiled fish reaching consumers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Cost Savings:</a:t>
            </a:r>
            <a:r>
              <a:rPr lang="en" sz="1600">
                <a:solidFill>
                  <a:schemeClr val="dk1"/>
                </a:solidFill>
              </a:rPr>
              <a:t> minimize losses, extend shelf life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Assumptions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Synthetic labels used (no real spoilage ground truth yet)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Baselines may vary by storage, season, and handling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Forecasting for ahead-of-time spoilage prediction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IoT integration for real-time automated alerts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Online deployment for live streams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Adaptive thresholds per species and environment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Combines rolling statistics, multi-level consensus, and ML-based gating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Early, reliable, and interpretable spoilage alerts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Robust to missing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Flexible &amp; scalable for real-world seafood supply chains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